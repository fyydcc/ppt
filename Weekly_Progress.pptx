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
  <Relationship Id="rId1" Type="http://schemas.openxmlformats.org/officeDocument/2006/relationships/officeDocument" Target="ppt/presentation.xml"/>
  <Relationship Id="rId2" Type="http://schemas.openxmlformats.org/package/2006/relationships/metadata/core-properties" Target="docProps/core.xml"/>
  <Relationship Id="rId3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lvl1pPr marL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 standalone="yes"?>
<Relationships xmlns="http://schemas.openxmlformats.org/package/2006/relationships">
  <Relationship Id="rId1" Type="http://schemas.openxmlformats.org/officeDocument/2006/relationships/slideMaster" Target="slideMasters/slideMaster1.xml"/>
  <Relationship Id="rId2" Type="http://schemas.openxmlformats.org/officeDocument/2006/relationships/slide" Target="slides/slide1.xml"/>
  <Relationship Id="rId3" Type="http://schemas.openxmlformats.org/officeDocument/2006/relationships/theme" Target="theme/theme1.xml"/>
  <Relationship Id="rId4" Type="http://schemas.openxmlformats.org/officeDocument/2006/relationships/presProps" Target="presProps.xml"/>
  <Relationship Id="rId5" Type="http://schemas.openxmlformats.org/officeDocument/2006/relationships/tableStyles" Target="tableStyles.xml"/>
</Relationships>

</file>

<file path=ppt/slideLayouts/_rels/slideLayout1.xml.rels><?xml version="1.0" encoding="UTF-8" standalone="yes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theme" Target="../theme/theme1.xml"/>
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0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accent bar -->
      <p:sp>
        <p:nvSpPr>
          <p:cNvPr id="2" name="Title Accent"/>
          <p:cNvSpPr/>
          <p:nvPr/>
        </p:nvSpPr>
        <p:spPr>
          <a:xfrm>
            <a:off x="548640" y="457200"/>
            <a:ext cx="109728" cy="914400"/>
          </a:xfrm>
          <a:prstGeom prst="rect">
            <a:avLst/>
          </a:prstGeom>
          <a:solidFill>
            <a:srgbClr val="2F5597"/>
          </a:solidFill>
          <a:ln>
            <a:noFill/>
          </a:ln>
        </p:spPr>
      </p:sp>
      <!-- Title -->
      <p:sp>
        <p:nvSpPr>
          <p:cNvPr id="3" name="Title"/>
          <p:cNvSpPr txBox="1"/>
          <p:nvPr/>
        </p:nvSpPr>
        <p:spPr>
          <a:xfrm>
            <a:off x="822960" y="411480"/>
            <a:ext cx="9144000" cy="5943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r>
              <a:rPr lang="en-US" sz="3600" b="1">
                <a:solidFill>
                  <a:srgbClr val="1F2937"/>
                </a:solidFill>
                <a:latin typeface="Microsoft YaHei"/>
                <a:ea typeface="Microsoft YaHei"/>
              </a:rPr>
              <a:t>Weekly Progress</a:t>
            </a:r>
          </a:p>
        </p:txBody>
      </p:sp>
      <!-- Subtitle -->
      <p:sp>
        <p:nvSpPr>
          <p:cNvPr id="4" name="Subtitle"/>
          <p:cNvSpPr txBox="1"/>
          <p:nvPr/>
        </p:nvSpPr>
        <p:spPr>
          <a:xfrm>
            <a:off x="822960" y="10515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zh-CN" altLang="en-US" sz="1400">
                <a:solidFill>
                  <a:srgbClr val="6B7280"/>
                </a:solidFill>
                <a:latin typeface="Microsoft YaHei"/>
                <a:ea typeface="Microsoft YaHei"/>
              </a:rPr>
              <a:t>AI 中小学出题 Skills  ·  2026.10.26 – 10.30</a:t>
            </a:r>
          </a:p>
        </p:txBody>
      </p:sp>
      <!-- Left card background -->
      <p:sp>
        <p:nvSpPr>
          <p:cNvPr id="5" name="This Week Card"/>
          <p:cNvSpPr/>
          <p:nvPr/>
        </p:nvSpPr>
        <p:spPr>
          <a:xfrm>
            <a:off x="548640" y="1600200"/>
            <a:ext cx="5440680" cy="4572000"/>
          </a:xfrm>
          <a:prstGeom prst="rect">
            <a:avLst/>
          </a:prstGeom>
          <a:solidFill>
            <a:srgbClr val="F4F6FB"/>
          </a:solidFill>
          <a:ln w="9525">
            <a:solidFill>
              <a:srgbClr val="DCE3F0"/>
            </a:solidFill>
          </a:ln>
        </p:spPr>
      </p:sp>
      <!-- Left card header -->
      <p:sp>
        <p:nvSpPr>
          <p:cNvPr id="6" name="This Week Header"/>
          <p:cNvSpPr/>
          <p:nvPr/>
        </p:nvSpPr>
        <p:spPr>
          <a:xfrm>
            <a:off x="548640" y="1600200"/>
            <a:ext cx="5440680" cy="54864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txBody>
          <a:bodyPr wrap="square" lIns="228600" tIns="0" rIns="228600" bIns="0" anchor="ctr"/>
          <a:lstStyle/>
          <a:p>
            <a:r>
              <a:rPr lang="zh-CN" alt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本周进展</a:t>
            </a:r>
            <a:r>
              <a:rPr lang="en-US" sz="1300">
                <a:solidFill>
                  <a:srgbClr val="C9D6F0"/>
                </a:solidFill>
                <a:latin typeface="Microsoft YaHei"/>
                <a:ea typeface="Microsoft YaHei"/>
              </a:rPr>
              <a:t>   This Week</a:t>
            </a:r>
          </a:p>
        </p:txBody>
      </p:sp>
      <!-- Left card body -->
      <p:sp>
        <p:nvSpPr>
          <p:cNvPr id="7" name="This Week Body"/>
          <p:cNvSpPr txBox="1"/>
          <p:nvPr/>
        </p:nvSpPr>
        <p:spPr>
          <a:xfrm>
            <a:off x="777240" y="2377440"/>
            <a:ext cx="4983480" cy="3611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85750" indent="-285750">
              <a:spcBef>
                <a:spcPts val="0"/>
              </a:spcBef>
              <a:buClr>
                <a:srgbClr val="2F5597"/>
              </a:buClr>
              <a:buFont typeface="Arial"/>
              <a:buChar char="•"/>
            </a:pPr>
            <a:r>
              <a:rPr lang="zh-CN" altLang="en-US" sz="1600" b="1">
                <a:solidFill>
                  <a:srgbClr val="1F2937"/>
                </a:solidFill>
                <a:latin typeface="Microsoft YaHei"/>
                <a:ea typeface="Microsoft YaHei"/>
              </a:rPr>
              <a:t>完成 AI 中小学出题 Skills 调研</a:t>
            </a:r>
          </a:p>
          <a:p>
            <a:pPr marL="571500" indent="-228600">
              <a:spcBef>
                <a:spcPts val="400"/>
              </a:spcBef>
              <a:buClr>
                <a:srgbClr val="6B7280"/>
              </a:buClr>
              <a:buFont typeface="Arial"/>
              <a:buChar char="–"/>
            </a:pPr>
            <a:r>
              <a:rPr lang="zh-CN" altLang="en-US" sz="1300">
                <a:solidFill>
                  <a:srgbClr val="4B5563"/>
                </a:solidFill>
                <a:latin typeface="Microsoft YaHei"/>
                <a:ea typeface="Microsoft YaHei"/>
              </a:rPr>
              <a:t>梳理 23 个 Skills：中文 10 个、英文通用 8 个、数学 / 英语专项 4 个、文档输出 1 套</a:t>
            </a:r>
          </a:p>
          <a:p>
            <a:pPr marL="285750" indent="-285750">
              <a:spcBef>
                <a:spcPts val="1400"/>
              </a:spcBef>
              <a:buClr>
                <a:srgbClr val="2F5597"/>
              </a:buClr>
              <a:buFont typeface="Arial"/>
              <a:buChar char="•"/>
            </a:pPr>
            <a:r>
              <a:rPr lang="zh-CN" altLang="en-US" sz="1600" b="1">
                <a:solidFill>
                  <a:srgbClr val="1F2937"/>
                </a:solidFill>
                <a:latin typeface="Microsoft YaHei"/>
                <a:ea typeface="Microsoft YaHei"/>
              </a:rPr>
              <a:t>整理成调研文档</a:t>
            </a:r>
          </a:p>
          <a:p>
            <a:pPr marL="571500" indent="-228600">
              <a:spcBef>
                <a:spcPts val="400"/>
              </a:spcBef>
              <a:buClr>
                <a:srgbClr val="6B7280"/>
              </a:buClr>
              <a:buFont typeface="Arial"/>
              <a:buChar char="–"/>
            </a:pPr>
            <a:r>
              <a:rPr lang="zh-CN" altLang="en-US" sz="1300">
                <a:solidFill>
                  <a:srgbClr val="4B5563"/>
                </a:solidFill>
                <a:latin typeface="Microsoft YaHei"/>
                <a:ea typeface="Microsoft YaHei"/>
              </a:rPr>
              <a:t>《AI中小学出题Skills调研.md》</a:t>
            </a:r>
          </a:p>
          <a:p>
            <a:pPr marL="571500" indent="-228600">
              <a:spcBef>
                <a:spcPts val="400"/>
              </a:spcBef>
              <a:buClr>
                <a:srgbClr val="6B7280"/>
              </a:buClr>
              <a:buFont typeface="Arial"/>
              <a:buChar char="–"/>
            </a:pPr>
            <a:r>
              <a:rPr lang="zh-CN" altLang="en-US" sz="1300">
                <a:solidFill>
                  <a:srgbClr val="4B5563"/>
                </a:solidFill>
                <a:latin typeface="Microsoft YaHei"/>
                <a:ea typeface="Microsoft YaHei"/>
              </a:rPr>
              <a:t>总表：地区、学段、学科、功能、答案校验、输出格式</a:t>
            </a:r>
          </a:p>
          <a:p>
            <a:pPr marL="571500" indent="-228600">
              <a:spcBef>
                <a:spcPts val="400"/>
              </a:spcBef>
              <a:buClr>
                <a:srgbClr val="6B7280"/>
              </a:buClr>
              <a:buFont typeface="Arial"/>
              <a:buChar char="–"/>
            </a:pPr>
            <a:r>
              <a:rPr lang="zh-CN" altLang="en-US" sz="1300">
                <a:solidFill>
                  <a:srgbClr val="4B5563"/>
                </a:solidFill>
                <a:latin typeface="Microsoft YaHei"/>
                <a:ea typeface="Microsoft YaHei"/>
              </a:rPr>
              <a:t>每个 Skill 的介绍与使用教程</a:t>
            </a:r>
          </a:p>
          <a:p>
            <a:pPr marL="285750" indent="-285750">
              <a:spcBef>
                <a:spcPts val="1400"/>
              </a:spcBef>
              <a:buClr>
                <a:srgbClr val="2F5597"/>
              </a:buClr>
              <a:buFont typeface="Arial"/>
              <a:buChar char="•"/>
            </a:pPr>
            <a:r>
              <a:rPr lang="zh-CN" altLang="en-US" sz="1600" b="1">
                <a:solidFill>
                  <a:srgbClr val="1F2937"/>
                </a:solidFill>
                <a:latin typeface="Microsoft YaHei"/>
                <a:ea typeface="Microsoft YaHei"/>
              </a:rPr>
              <a:t>主要发现</a:t>
            </a:r>
          </a:p>
          <a:p>
            <a:pPr marL="571500" indent="-228600">
              <a:spcBef>
                <a:spcPts val="400"/>
              </a:spcBef>
              <a:buClr>
                <a:srgbClr val="6B7280"/>
              </a:buClr>
              <a:buFont typeface="Arial"/>
              <a:buChar char="–"/>
            </a:pPr>
            <a:r>
              <a:rPr lang="zh-CN" altLang="en-US" sz="1300">
                <a:solidFill>
                  <a:srgbClr val="4B5563"/>
                </a:solidFill>
                <a:latin typeface="Microsoft YaHei"/>
                <a:ea typeface="Microsoft YaHei"/>
              </a:rPr>
              <a:t>先定双向细目表再出题，干扰项取自学生常见错误</a:t>
            </a:r>
          </a:p>
          <a:p>
            <a:pPr marL="571500" indent="-228600">
              <a:spcBef>
                <a:spcPts val="400"/>
              </a:spcBef>
              <a:buClr>
                <a:srgbClr val="6B7280"/>
              </a:buClr>
              <a:buFont typeface="Arial"/>
              <a:buChar char="–"/>
            </a:pPr>
            <a:r>
              <a:rPr lang="zh-CN" altLang="en-US" sz="1300">
                <a:solidFill>
                  <a:srgbClr val="4B5563"/>
                </a:solidFill>
                <a:latin typeface="Microsoft YaHei"/>
                <a:ea typeface="Microsoft YaHei"/>
              </a:rPr>
              <a:t>理科答案需用脚本独立校验（如 SymPy）</a:t>
            </a:r>
          </a:p>
        </p:txBody>
      </p:sp>
      <!-- Right card background -->
      <p:sp>
        <p:nvSpPr>
          <p:cNvPr id="8" name="Next Week Card"/>
          <p:cNvSpPr/>
          <p:nvPr/>
        </p:nvSpPr>
        <p:spPr>
          <a:xfrm>
            <a:off x="6199632" y="1600200"/>
            <a:ext cx="5440680" cy="4572000"/>
          </a:xfrm>
          <a:prstGeom prst="rect">
            <a:avLst/>
          </a:prstGeom>
          <a:solidFill>
            <a:srgbClr val="F2F8F7"/>
          </a:solidFill>
          <a:ln w="9525">
            <a:solidFill>
              <a:srgbClr val="D3E8E5"/>
            </a:solidFill>
          </a:ln>
        </p:spPr>
      </p:sp>
      <!-- Right card header -->
      <p:sp>
        <p:nvSpPr>
          <p:cNvPr id="9" name="Next Week Header"/>
          <p:cNvSpPr/>
          <p:nvPr/>
        </p:nvSpPr>
        <p:spPr>
          <a:xfrm>
            <a:off x="6199632" y="1600200"/>
            <a:ext cx="5440680" cy="5486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txBody>
          <a:bodyPr wrap="square" lIns="228600" tIns="0" rIns="228600" bIns="0" anchor="ctr"/>
          <a:lstStyle/>
          <a:p>
            <a:r>
              <a:rPr lang="zh-CN" alt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下周计划</a:t>
            </a:r>
            <a:r>
              <a:rPr lang="en-US" sz="1300">
                <a:solidFill>
                  <a:srgbClr val="BFE3DE"/>
                </a:solidFill>
                <a:latin typeface="Microsoft YaHei"/>
                <a:ea typeface="Microsoft YaHei"/>
              </a:rPr>
              <a:t>   Next Week</a:t>
            </a:r>
          </a:p>
        </p:txBody>
      </p:sp>
      <!-- Right card body -->
      <p:sp>
        <p:nvSpPr>
          <p:cNvPr id="10" name="Next Week Body"/>
          <p:cNvSpPr txBox="1"/>
          <p:nvPr/>
        </p:nvSpPr>
        <p:spPr>
          <a:xfrm>
            <a:off x="6428232" y="2377440"/>
            <a:ext cx="4983480" cy="3611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85750" indent="-285750">
              <a:spcBef>
                <a:spcPts val="0"/>
              </a:spcBef>
              <a:buClr>
                <a:srgbClr val="00897B"/>
              </a:buClr>
              <a:buFont typeface="Arial"/>
              <a:buChar char="•"/>
            </a:pPr>
            <a:r>
              <a:rPr lang="zh-CN" altLang="en-US" sz="1600" b="1">
                <a:solidFill>
                  <a:srgbClr val="1F2937"/>
                </a:solidFill>
                <a:latin typeface="Microsoft YaHei"/>
                <a:ea typeface="Microsoft YaHei"/>
              </a:rPr>
              <a:t>把调研的 Skills 配置应用起来</a:t>
            </a:r>
          </a:p>
          <a:p>
            <a:pPr marL="571500" indent="-228600">
              <a:spcBef>
                <a:spcPts val="400"/>
              </a:spcBef>
              <a:buClr>
                <a:srgbClr val="6B7280"/>
              </a:buClr>
              <a:buFont typeface="Arial"/>
              <a:buChar char="–"/>
            </a:pPr>
            <a:r>
              <a:rPr lang="zh-CN" altLang="en-US" sz="1300">
                <a:solidFill>
                  <a:srgbClr val="4B5563"/>
                </a:solidFill>
                <a:latin typeface="Microsoft YaHei"/>
                <a:ea typeface="Microsoft YaHei"/>
              </a:rPr>
              <a:t>搭建运行环境（Python、SymPy、Jinja2 等依赖）</a:t>
            </a:r>
          </a:p>
          <a:p>
            <a:pPr marL="571500" indent="-228600">
              <a:spcBef>
                <a:spcPts val="400"/>
              </a:spcBef>
              <a:buClr>
                <a:srgbClr val="6B7280"/>
              </a:buClr>
              <a:buFont typeface="Arial"/>
              <a:buChar char="–"/>
            </a:pPr>
            <a:r>
              <a:rPr lang="zh-CN" altLang="en-US" sz="1300">
                <a:solidFill>
                  <a:srgbClr val="4B5563"/>
                </a:solidFill>
                <a:latin typeface="Microsoft YaHei"/>
                <a:ea typeface="Microsoft YaHei"/>
              </a:rPr>
              <a:t>安装重点 Skills：测评设计师、exam-paper-generator、math-worksheets、docx</a:t>
            </a:r>
          </a:p>
          <a:p>
            <a:pPr marL="285750" indent="-285750">
              <a:spcBef>
                <a:spcPts val="1400"/>
              </a:spcBef>
              <a:buClr>
                <a:srgbClr val="00897B"/>
              </a:buClr>
              <a:buFont typeface="Arial"/>
              <a:buChar char="•"/>
            </a:pPr>
            <a:r>
              <a:rPr lang="zh-CN" altLang="en-US" sz="1600" b="1">
                <a:solidFill>
                  <a:srgbClr val="1F2937"/>
                </a:solidFill>
                <a:latin typeface="Microsoft YaHei"/>
                <a:ea typeface="Microsoft YaHei"/>
              </a:rPr>
              <a:t>用真实出题需求试用</a:t>
            </a:r>
          </a:p>
          <a:p>
            <a:pPr marL="571500" indent="-228600">
              <a:spcBef>
                <a:spcPts val="400"/>
              </a:spcBef>
              <a:buClr>
                <a:srgbClr val="6B7280"/>
              </a:buClr>
              <a:buFont typeface="Arial"/>
              <a:buChar char="–"/>
            </a:pPr>
            <a:r>
              <a:rPr lang="zh-CN" altLang="en-US" sz="1300">
                <a:solidFill>
                  <a:srgbClr val="4B5563"/>
                </a:solidFill>
                <a:latin typeface="Microsoft YaHei"/>
                <a:ea typeface="Microsoft YaHei"/>
              </a:rPr>
              <a:t>试出 1–2 套中小学试卷（学生版 + 教师版）</a:t>
            </a:r>
          </a:p>
          <a:p>
            <a:pPr marL="571500" indent="-228600">
              <a:spcBef>
                <a:spcPts val="400"/>
              </a:spcBef>
              <a:buClr>
                <a:srgbClr val="6B7280"/>
              </a:buClr>
              <a:buFont typeface="Arial"/>
              <a:buChar char="–"/>
            </a:pPr>
            <a:r>
              <a:rPr lang="zh-CN" altLang="en-US" sz="1300">
                <a:solidFill>
                  <a:srgbClr val="4B5563"/>
                </a:solidFill>
                <a:latin typeface="Microsoft YaHei"/>
                <a:ea typeface="Microsoft YaHei"/>
              </a:rPr>
              <a:t>评估出题质量，记录问题</a:t>
            </a:r>
          </a:p>
          <a:p>
            <a:pPr marL="285750" indent="-285750">
              <a:spcBef>
                <a:spcPts val="1400"/>
              </a:spcBef>
              <a:buClr>
                <a:srgbClr val="00897B"/>
              </a:buClr>
              <a:buFont typeface="Arial"/>
              <a:buChar char="•"/>
            </a:pPr>
            <a:r>
              <a:rPr lang="zh-CN" altLang="en-US" sz="1600" b="1">
                <a:solidFill>
                  <a:srgbClr val="1F2937"/>
                </a:solidFill>
                <a:latin typeface="Microsoft YaHei"/>
                <a:ea typeface="Microsoft YaHei"/>
              </a:rPr>
              <a:t>整理配置与使用说明</a:t>
            </a:r>
          </a:p>
        </p:txBody>
      </p:sp>
      <!-- Footer -->
      <p:sp>
        <p:nvSpPr>
          <p:cNvPr id="11" name="Footer"/>
          <p:cNvSpPr txBox="1"/>
          <p:nvPr/>
        </p:nvSpPr>
        <p:spPr>
          <a:xfrm>
            <a:off x="548640" y="630936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zh-CN" altLang="en-US" sz="1000">
                <a:solidFill>
                  <a:srgbClr val="9CA3AF"/>
                </a:solidFill>
                <a:latin typeface="Microsoft YaHei"/>
                <a:ea typeface="Microsoft YaHei"/>
              </a:rPr>
              <a:t>详细内容见《AI中小学出题Skills调研.md》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F5597"/>
      </a:accent1>
      <a:accent2>
        <a:srgbClr val="00897B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Progress</dc:title>
  <dc:creator>Researcher</dc:creator>
  <dcterms:created xsi:type="dcterms:W3CDTF">2026-10-30T09:00:00Z</dcterms:created>
  <dcterms:modified xsi:type="dcterms:W3CDTF">2026-10-30T09:00:00Z</dcterms:modified>
</cp:coreProperties>
</file>