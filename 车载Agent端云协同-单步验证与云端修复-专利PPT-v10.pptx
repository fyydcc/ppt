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25"/>
    <p:sldId id="275" r:id="rId26"/>
    <p:sldId id="271" r:id="rId17"/>
    <p:sldId id="272" r:id="rId18"/>
    <p:sldId id="276" r:id="rId27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7"/>
  </p:normalViewPr>
  <p:slideViewPr>
    <p:cSldViewPr snapToGrid="0">
      <p:cViewPr varScale="1">
        <p:scale>
          <a:sx n="110" d="100"/>
          <a:sy n="110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本发明面向车载智能座舱的多步 Agent 任务。每一步由车端小模型提出动作并由云端验证。ACCEPT 通过车端提议并执行该调用。REPAIR 由云端模型接管当前一步的推理和工具调用。两端使用同一个实际工具环境，车载工具仍通过车端接口执行。真实结果回写共享历史后继续下一步。示例数字不代表实验结果。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关键词用于所属项目下的技术方向填写。系统形态和机制术语均为拟申请方案描述，不代表已经完成实车集成。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云端对每一步同步验收，端云往返处于执行关键路径。因此申请阶段不主张云端调用次数下降，也不填入尚未获得的性能结果。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示例中的导航为座舱应用动作，不是自动驾驶转向、制动等安全关键闭环。10 分钟是用户请求中的约束。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并行双发机制可将同一请求发送至车端和云端，再由车端模型决定是否采用云端回复。请求级路由可参见 RouteLLM；端云车载任务分流可参见 CN119207408A。云端逐步规划是机制类别，不代表所有现有技术都如此。逐步审核动作并非天然具备新颖性；需检索具体组合。</a:t>
            </a:r>
          </a:p>
          <a:p>
            <a:endParaRPr/>
          </a:p>
          <a:p>
            <a:r>
              <a:t>[Sources]</a:t>
            </a:r>
          </a:p>
          <a:p>
            <a:r>
              <a:t>[P1] 北京汽车制造厂（青岛）有限公司. 一种用于多种任务场景的端云协同车载交互方法: CN119207408A[P]. 2024-12-27. https://patents.google.com/patent/CN119207408A/zh</a:t>
            </a:r>
          </a:p>
          <a:p>
            <a:r>
              <a:t>[P2] VEGA A, BOSE P, BUYUKTOSUNOGLU A. Adaptive multi-agent cooperative computation and inference: US20190392333A1[P]. 2019-12-26. https://patents.google.com/patent/US20190392333A1/en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本发明限定于智能座舱应用层工具任务，不替代车辆功能安全控制。REPAIR 是云端模型从当前共享任务历史进行本步推理并调用工具，不限定为对原候选的参数修改。实际工具环境只有一份，未执行的车端候选不能当作已发生事实。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ACCEPT 通过车端模型提出的本步工具调用。REPAIR 由云端模型接管本步推理和工具调用。车载工具均通过车端接口作用于同一个实际环境，没有并行环境副本。实际执行结果写回共享历史后，车端模型提出下一步。共同工具接口的权限、参数和车辆状态检查独立于模型分支选择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ACCEPT 与 REPAIR 是每步验证的两种结果。ACCEPT 沿用车端提议。REPAIR 时原车端提议不执行，云端模型从当前共享历史重新进行本步推理并发起工具调用，不限定为编辑原动作。两个分支汇入同一个实际工具环境。车载工具通过车端接口执行，真实观察回写共享历史，随后开始下一步。工具超时和授权失败属于执行异常，不设为第三种验证结果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字段为建议实施方式，不要求限定 JSON 编码或特定标识格式。REPAIR 表示云端模型执行本步推理并发起工具调用，不仅是把一个替代动作作为验收结果返回。仅实际调用及其真实观察进入共享任务历史。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模型验证结果只包括 ACCEPT 与 REPAIR。执行权限、参数合法性和车辆状态检查属于共同工具接口的实施约束，不是第三种模型决策。车载调用在同一个实际环境执行，云端不能绕过本地工具授权。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示例为拟议流程。假设站点与路线 API 可用、用户已授权、导航 API 属于可提交的座舱应用动作。28%、6 分、9 分均为虚构说明数字。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本页展开上一页第 4 步。REPAIR 后云端从共享历史重新进行下一步推理并发起工具调用，可以选择不同工具或不同参数，不要求对原候选做局部修改。start_navigation(B) 通过车端接口作用于同一个实际导航环境。两端不会分别执行 A 与 B。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这页是建议实施方式，尚需与具体车机网络、工具授权、隐私传输和降级策略对齐。语义模型结论不能替代功能安全机制。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本页为技术交底要点，不是正式权利要求或可授权性结论。提交前应核对具体技术组合。REPAIR 必须体现云端模型接管本步推理与工具调用，而不是仅返回替代动作。一个实际工具环境和真实反馈续接是系统协作关系，不要求环境分叉或最长前缀匹配。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这页仅为技术取证思路，不提供法律结论。日志应注意隐私和数据合规，正式侵权比对需按最终权利要求逐项进行。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尚无实验结果。应计入车端提议、每步云端验证、REPAIR 分支的云端推理、工具执行、通信和失败重试成本。ACCEPT 跳过云端本步完整生成是机制差别，不等于已证明端到端成本或时延下降。</a:t>
            </a:r>
          </a:p>
          <a:p>
            <a:endParaRPr/>
          </a:p>
          <a:p>
            <a:r>
              <a:t>[Sources]</a:t>
            </a:r>
          </a:p>
          <a:p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文献分析基于 CN119207408A 公开的摘要和权利要求1。该文献包含端侧置信度判断、低置信度任务发送云端规划、任务分解与边缘执行器 API 调用。本页所述区别是对已核对文本的技术比较，不是没有其他更接近文献的结论，更不能据此证明可授权性。</a:t>
            </a:r>
          </a:p>
          <a:p>
            <a:endParaRPr/>
          </a:p>
          <a:p>
            <a:r>
              <a:t>[Sources]</a:t>
            </a:r>
          </a:p>
          <a:p>
            <a:r>
              <a:t>[P1] 北京汽车制造厂（青岛）有限公司. 一种用于多种任务场景的端云协同车载交互方法: CN119207408A[P]. 2024-12-27. https://patents.google.com/patent/CN119207408A/zh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[1] 与本发明并非同一机制，但说明“逐步级联/升级”是相邻研究方向；不应把逐步验收本身当成确定的新颖点。资料核查日期：2026-10-08。</a:t>
            </a:r>
          </a:p>
          <a:p>
            <a:endParaRPr/>
          </a:p>
          <a:p>
            <a:r>
              <a:t>[Sources]</a:t>
            </a:r>
          </a:p>
          <a:p>
            <a:r>
              <a:t>[P1] https://patents.google.com/patent/CN119207408A/zh</a:t>
            </a:r>
          </a:p>
          <a:p>
            <a:r>
              <a:t>[P2] https://patents.google.com/patent/US20190392333A1/en</a:t>
            </a:r>
          </a:p>
          <a:p>
            <a:r>
              <a:t>[1] https://arxiv.org/abs/2604.27151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3762C49-9DCF-4D82-A573-293693DCC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83F5A5B-6637-46BC-8AC3-898FCABA4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93965E19-1C90-4F45-90E9-50A38D005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0CEA455-93EF-49B5-A6C4-A184226F0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B146E59-420E-47AF-901A-C33E751FA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7383E19-B5F7-481A-862B-390B88E1A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981C4CC-4CF5-49CC-9AFF-713B5CE72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78D7E10-A8A3-43CA-875B-ABECF5DE43A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D032B9-3FEE-4ADA-A599-9AA3B593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0AC2728-652A-4CB5-BD49-EB8FE9359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1">
            <a:extLst>
              <a:ext uri="{FF2B5EF4-FFF2-40B4-BE49-F238E27FC236}">
                <a16:creationId xmlns:a16="http://schemas.microsoft.com/office/drawing/2014/main" id="{F863B1E1-FF5E-4ACD-A45C-BE10F35BC8D6}"/>
              </a:ext>
            </a:extLst>
          </p:cNvPr>
          <p:cNvSpPr>
            <a:spLocks noGrp="1"/>
          </p:cNvSpPr>
          <p:nvPr/>
        </p:nvSpPr>
        <p:spPr>
          <a:xfrm>
            <a:off x="609600" y="4857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车载智能座舱  /  发明专利技术方案</a:t>
            </a:r>
          </a:p>
        </p:txBody>
      </p:sp>
      <p:sp>
        <p:nvSpPr>
          <p:cNvPr id="2" name="t2">
            <a:extLst>
              <a:ext uri="{FF2B5EF4-FFF2-40B4-BE49-F238E27FC236}">
                <a16:creationId xmlns:a16="http://schemas.microsoft.com/office/drawing/2014/main" id="{68D6952E-27A3-40FF-874A-743F6A9FEF99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52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52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车载 Agent 端云协同</a:t>
            </a:r>
          </a:p>
        </p:txBody>
      </p:sp>
      <p:sp>
        <p:nvSpPr>
          <p:cNvPr id="3" name="t3">
            <a:extLst>
              <a:ext uri="{FF2B5EF4-FFF2-40B4-BE49-F238E27FC236}">
                <a16:creationId xmlns:a16="http://schemas.microsoft.com/office/drawing/2014/main" id="{0A021C5F-F4DE-4E0E-BFB0-A803FB8F9E94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5250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5250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单步验证与云端修复</a:t>
            </a:r>
          </a:p>
        </p:txBody>
      </p:sp>
      <p:sp>
        <p:nvSpPr>
          <p:cNvPr id="4" name="l4">
            <a:extLst>
              <a:ext uri="{FF2B5EF4-FFF2-40B4-BE49-F238E27FC236}">
                <a16:creationId xmlns:a16="http://schemas.microsoft.com/office/drawing/2014/main" id="{5687D2CB-CEB5-4680-BD63-0C020294F969}"/>
              </a:ext>
            </a:extLst>
          </p:cNvPr>
          <p:cNvSpPr>
            <a:spLocks noGrp="1"/>
          </p:cNvSpPr>
          <p:nvPr/>
        </p:nvSpPr>
        <p:spPr>
          <a:xfrm>
            <a:off x="609600" y="4276725"/>
            <a:ext cx="10972800" cy="0"/>
          </a:xfrm>
          <a:prstGeom prst="line">
            <a:avLst/>
          </a:prstGeom>
          <a:noFill/>
          <a:ln w="28575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5">
            <a:extLst>
              <a:ext uri="{FF2B5EF4-FFF2-40B4-BE49-F238E27FC236}">
                <a16:creationId xmlns:a16="http://schemas.microsoft.com/office/drawing/2014/main" id="{502B917B-D1A1-4F2A-BA37-D5587E59DF27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一种基于单步验证与云端修复的车载智能座舱端云协同方法及系统</a:t>
            </a:r>
          </a:p>
        </p:txBody>
      </p:sp>
      <p:sp>
        <p:nvSpPr>
          <p:cNvPr id="6" name="t6">
            <a:extLst>
              <a:ext uri="{FF2B5EF4-FFF2-40B4-BE49-F238E27FC236}">
                <a16:creationId xmlns:a16="http://schemas.microsoft.com/office/drawing/2014/main" id="{5BAC3900-E463-4833-97A1-1D407616E337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车端提议，云端验证；不通过时云端接管本步推理与工具调用</a:t>
            </a:r>
          </a:p>
        </p:txBody>
      </p:sp>
      <p:sp>
        <p:nvSpPr>
          <p:cNvPr id="7" name="t7">
            <a:extLst>
              <a:ext uri="{FF2B5EF4-FFF2-40B4-BE49-F238E27FC236}">
                <a16:creationId xmlns:a16="http://schemas.microsoft.com/office/drawing/2014/main" id="{81A5CFF1-9404-49EC-9D14-5BF23F45434D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发明专利申请技术方案  |  2026.10</a:t>
            </a:r>
          </a:p>
        </p:txBody>
      </p:sp>
    </p:spTree>
    <p:extLst>
      <p:ext uri="{BB962C8B-B14F-4D97-AF65-F5344CB8AC3E}">
        <p14:creationId xmlns:p14="http://schemas.microsoft.com/office/powerpoint/2010/main" val="615670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8">
            <a:extLst>
              <a:ext uri="{FF2B5EF4-FFF2-40B4-BE49-F238E27FC236}">
                <a16:creationId xmlns:a16="http://schemas.microsoft.com/office/drawing/2014/main" id="{7B29CFEB-684A-484A-8E8E-BBD03375572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项目技术方向</a:t>
            </a:r>
          </a:p>
        </p:txBody>
      </p:sp>
      <p:sp>
        <p:nvSpPr>
          <p:cNvPr id="2" name="t9">
            <a:extLst>
              <a:ext uri="{FF2B5EF4-FFF2-40B4-BE49-F238E27FC236}">
                <a16:creationId xmlns:a16="http://schemas.microsoft.com/office/drawing/2014/main" id="{CA4D8EC1-EF53-469B-9735-8BD88A7FE0E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关键词</a:t>
            </a:r>
          </a:p>
        </p:txBody>
      </p:sp>
      <p:sp>
        <p:nvSpPr>
          <p:cNvPr id="3" name="t10">
            <a:extLst>
              <a:ext uri="{FF2B5EF4-FFF2-40B4-BE49-F238E27FC236}">
                <a16:creationId xmlns:a16="http://schemas.microsoft.com/office/drawing/2014/main" id="{49BA9F81-9459-4EFF-AFF1-E3936FEE4F96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车载智能座舱场景下的推理执行协议，不涉及自动驾驶实时控制。</a:t>
            </a:r>
          </a:p>
        </p:txBody>
      </p:sp>
      <p:sp>
        <p:nvSpPr>
          <p:cNvPr id="4" name="l11">
            <a:extLst>
              <a:ext uri="{FF2B5EF4-FFF2-40B4-BE49-F238E27FC236}">
                <a16:creationId xmlns:a16="http://schemas.microsoft.com/office/drawing/2014/main" id="{89C5920A-623A-4A0E-AE09-4129DBE8F70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12">
            <a:extLst>
              <a:ext uri="{FF2B5EF4-FFF2-40B4-BE49-F238E27FC236}">
                <a16:creationId xmlns:a16="http://schemas.microsoft.com/office/drawing/2014/main" id="{1E224326-8B37-4A86-84BD-C689621555F8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13">
            <a:extLst>
              <a:ext uri="{FF2B5EF4-FFF2-40B4-BE49-F238E27FC236}">
                <a16:creationId xmlns:a16="http://schemas.microsoft.com/office/drawing/2014/main" id="{E3F69089-4DD4-4ED9-9914-2F128DBDA17C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l14">
            <a:extLst>
              <a:ext uri="{FF2B5EF4-FFF2-40B4-BE49-F238E27FC236}">
                <a16:creationId xmlns:a16="http://schemas.microsoft.com/office/drawing/2014/main" id="{C8BF88E8-9B84-44D7-B242-2CE1C84E70F3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15">
            <a:extLst>
              <a:ext uri="{FF2B5EF4-FFF2-40B4-BE49-F238E27FC236}">
                <a16:creationId xmlns:a16="http://schemas.microsoft.com/office/drawing/2014/main" id="{3271364C-6C7E-4F78-B2F6-D0AFC3085F31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6191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t16">
            <a:extLst>
              <a:ext uri="{FF2B5EF4-FFF2-40B4-BE49-F238E27FC236}">
                <a16:creationId xmlns:a16="http://schemas.microsoft.com/office/drawing/2014/main" id="{779C65E2-14E1-4B7B-AFFD-E426F5AA67D4}"/>
              </a:ext>
            </a:extLst>
          </p:cNvPr>
          <p:cNvSpPr>
            <a:spLocks noGrp="1"/>
          </p:cNvSpPr>
          <p:nvPr/>
        </p:nvSpPr>
        <p:spPr>
          <a:xfrm>
            <a:off x="1428750" y="2247900"/>
            <a:ext cx="3905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3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车载智能座舱</a:t>
            </a:r>
          </a:p>
        </p:txBody>
      </p:sp>
      <p:sp>
        <p:nvSpPr>
          <p:cNvPr id="10" name="t17">
            <a:extLst>
              <a:ext uri="{FF2B5EF4-FFF2-40B4-BE49-F238E27FC236}">
                <a16:creationId xmlns:a16="http://schemas.microsoft.com/office/drawing/2014/main" id="{D4C1D606-161D-4F43-BF28-0042693FC566}"/>
              </a:ext>
            </a:extLst>
          </p:cNvPr>
          <p:cNvSpPr>
            <a:spLocks noGrp="1"/>
          </p:cNvSpPr>
          <p:nvPr/>
        </p:nvSpPr>
        <p:spPr>
          <a:xfrm>
            <a:off x="5572125" y="2257425"/>
            <a:ext cx="5857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应用场景</a:t>
            </a:r>
          </a:p>
        </p:txBody>
      </p:sp>
      <p:sp>
        <p:nvSpPr>
          <p:cNvPr id="11" name="l18">
            <a:extLst>
              <a:ext uri="{FF2B5EF4-FFF2-40B4-BE49-F238E27FC236}">
                <a16:creationId xmlns:a16="http://schemas.microsoft.com/office/drawing/2014/main" id="{AC11CD00-1317-4308-8A23-F523655AA3F4}"/>
              </a:ext>
            </a:extLst>
          </p:cNvPr>
          <p:cNvSpPr>
            <a:spLocks noGrp="1"/>
          </p:cNvSpPr>
          <p:nvPr/>
        </p:nvSpPr>
        <p:spPr>
          <a:xfrm>
            <a:off x="609600" y="2867025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19">
            <a:extLst>
              <a:ext uri="{FF2B5EF4-FFF2-40B4-BE49-F238E27FC236}">
                <a16:creationId xmlns:a16="http://schemas.microsoft.com/office/drawing/2014/main" id="{319D52CA-614F-4E9D-97F0-85E0771DE9D1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6191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t20">
            <a:extLst>
              <a:ext uri="{FF2B5EF4-FFF2-40B4-BE49-F238E27FC236}">
                <a16:creationId xmlns:a16="http://schemas.microsoft.com/office/drawing/2014/main" id="{00A6A369-43A6-477E-94EA-94F11D5F03E0}"/>
              </a:ext>
            </a:extLst>
          </p:cNvPr>
          <p:cNvSpPr>
            <a:spLocks noGrp="1"/>
          </p:cNvSpPr>
          <p:nvPr/>
        </p:nvSpPr>
        <p:spPr>
          <a:xfrm>
            <a:off x="1428750" y="2990850"/>
            <a:ext cx="3905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3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Agent 端云协同</a:t>
            </a:r>
          </a:p>
        </p:txBody>
      </p:sp>
      <p:sp>
        <p:nvSpPr>
          <p:cNvPr id="14" name="t21">
            <a:extLst>
              <a:ext uri="{FF2B5EF4-FFF2-40B4-BE49-F238E27FC236}">
                <a16:creationId xmlns:a16="http://schemas.microsoft.com/office/drawing/2014/main" id="{CC796192-31F4-4371-8831-B05560159246}"/>
              </a:ext>
            </a:extLst>
          </p:cNvPr>
          <p:cNvSpPr>
            <a:spLocks noGrp="1"/>
          </p:cNvSpPr>
          <p:nvPr/>
        </p:nvSpPr>
        <p:spPr>
          <a:xfrm>
            <a:off x="5572125" y="3000375"/>
            <a:ext cx="5857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系统形态</a:t>
            </a:r>
          </a:p>
        </p:txBody>
      </p:sp>
      <p:sp>
        <p:nvSpPr>
          <p:cNvPr id="15" name="l22">
            <a:extLst>
              <a:ext uri="{FF2B5EF4-FFF2-40B4-BE49-F238E27FC236}">
                <a16:creationId xmlns:a16="http://schemas.microsoft.com/office/drawing/2014/main" id="{911FF05E-EC5F-45D3-B0F2-650B5698C78D}"/>
              </a:ext>
            </a:extLst>
          </p:cNvPr>
          <p:cNvSpPr>
            <a:spLocks noGrp="1"/>
          </p:cNvSpPr>
          <p:nvPr/>
        </p:nvSpPr>
        <p:spPr>
          <a:xfrm>
            <a:off x="609600" y="3609975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23">
            <a:extLst>
              <a:ext uri="{FF2B5EF4-FFF2-40B4-BE49-F238E27FC236}">
                <a16:creationId xmlns:a16="http://schemas.microsoft.com/office/drawing/2014/main" id="{AE5F178F-F74F-4B7A-9266-2747E3F33331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6191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t24">
            <a:extLst>
              <a:ext uri="{FF2B5EF4-FFF2-40B4-BE49-F238E27FC236}">
                <a16:creationId xmlns:a16="http://schemas.microsoft.com/office/drawing/2014/main" id="{F895E4BB-CAAA-4624-885A-C83C94F412AB}"/>
              </a:ext>
            </a:extLst>
          </p:cNvPr>
          <p:cNvSpPr>
            <a:spLocks noGrp="1"/>
          </p:cNvSpPr>
          <p:nvPr/>
        </p:nvSpPr>
        <p:spPr>
          <a:xfrm>
            <a:off x="1428750" y="3733800"/>
            <a:ext cx="3905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3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单步语义验证</a:t>
            </a:r>
          </a:p>
        </p:txBody>
      </p:sp>
      <p:sp>
        <p:nvSpPr>
          <p:cNvPr id="18" name="t25">
            <a:extLst>
              <a:ext uri="{FF2B5EF4-FFF2-40B4-BE49-F238E27FC236}">
                <a16:creationId xmlns:a16="http://schemas.microsoft.com/office/drawing/2014/main" id="{1DDEEB1E-94D1-4BF4-A29D-2D2F20E5330D}"/>
              </a:ext>
            </a:extLst>
          </p:cNvPr>
          <p:cNvSpPr>
            <a:spLocks noGrp="1"/>
          </p:cNvSpPr>
          <p:nvPr/>
        </p:nvSpPr>
        <p:spPr>
          <a:xfrm>
            <a:off x="5572125" y="3743325"/>
            <a:ext cx="5857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协同粒度</a:t>
            </a:r>
          </a:p>
        </p:txBody>
      </p:sp>
      <p:sp>
        <p:nvSpPr>
          <p:cNvPr id="19" name="l26">
            <a:extLst>
              <a:ext uri="{FF2B5EF4-FFF2-40B4-BE49-F238E27FC236}">
                <a16:creationId xmlns:a16="http://schemas.microsoft.com/office/drawing/2014/main" id="{B6142AC4-15EC-4370-965F-049CA4FA3354}"/>
              </a:ext>
            </a:extLst>
          </p:cNvPr>
          <p:cNvSpPr>
            <a:spLocks noGrp="1"/>
          </p:cNvSpPr>
          <p:nvPr/>
        </p:nvSpPr>
        <p:spPr>
          <a:xfrm>
            <a:off x="609600" y="4352925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27">
            <a:extLst>
              <a:ext uri="{FF2B5EF4-FFF2-40B4-BE49-F238E27FC236}">
                <a16:creationId xmlns:a16="http://schemas.microsoft.com/office/drawing/2014/main" id="{5920C308-DAF1-4C16-97D6-75B98B89F31B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6191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28">
            <a:extLst>
              <a:ext uri="{FF2B5EF4-FFF2-40B4-BE49-F238E27FC236}">
                <a16:creationId xmlns:a16="http://schemas.microsoft.com/office/drawing/2014/main" id="{EC2D7F5A-ED17-4E54-9560-EA1DDC901042}"/>
              </a:ext>
            </a:extLst>
          </p:cNvPr>
          <p:cNvSpPr>
            <a:spLocks noGrp="1"/>
          </p:cNvSpPr>
          <p:nvPr/>
        </p:nvSpPr>
        <p:spPr>
          <a:xfrm>
            <a:off x="1428750" y="4476750"/>
            <a:ext cx="3905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3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云端推理修复</a:t>
            </a:r>
          </a:p>
        </p:txBody>
      </p:sp>
      <p:sp>
        <p:nvSpPr>
          <p:cNvPr id="22" name="t29">
            <a:extLst>
              <a:ext uri="{FF2B5EF4-FFF2-40B4-BE49-F238E27FC236}">
                <a16:creationId xmlns:a16="http://schemas.microsoft.com/office/drawing/2014/main" id="{2034E3C8-D5B2-43CB-9281-79A2E3FBB899}"/>
              </a:ext>
            </a:extLst>
          </p:cNvPr>
          <p:cNvSpPr>
            <a:spLocks noGrp="1"/>
          </p:cNvSpPr>
          <p:nvPr/>
        </p:nvSpPr>
        <p:spPr>
          <a:xfrm>
            <a:off x="5572125" y="4486275"/>
            <a:ext cx="5857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接管机制</a:t>
            </a:r>
          </a:p>
        </p:txBody>
      </p:sp>
      <p:sp>
        <p:nvSpPr>
          <p:cNvPr id="23" name="l30">
            <a:extLst>
              <a:ext uri="{FF2B5EF4-FFF2-40B4-BE49-F238E27FC236}">
                <a16:creationId xmlns:a16="http://schemas.microsoft.com/office/drawing/2014/main" id="{D9FE4E59-6C1C-4CC7-B937-25DEF6CC5708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31">
            <a:extLst>
              <a:ext uri="{FF2B5EF4-FFF2-40B4-BE49-F238E27FC236}">
                <a16:creationId xmlns:a16="http://schemas.microsoft.com/office/drawing/2014/main" id="{C07DB9DF-FCAC-474B-9D40-1A3EF61C63F9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6191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5" name="t32">
            <a:extLst>
              <a:ext uri="{FF2B5EF4-FFF2-40B4-BE49-F238E27FC236}">
                <a16:creationId xmlns:a16="http://schemas.microsoft.com/office/drawing/2014/main" id="{3BD37EA5-77F1-42CC-B0D9-E69B544A4E24}"/>
              </a:ext>
            </a:extLst>
          </p:cNvPr>
          <p:cNvSpPr>
            <a:spLocks noGrp="1"/>
          </p:cNvSpPr>
          <p:nvPr/>
        </p:nvSpPr>
        <p:spPr>
          <a:xfrm>
            <a:off x="1428750" y="5219700"/>
            <a:ext cx="3905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3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共享工具环境</a:t>
            </a:r>
          </a:p>
        </p:txBody>
      </p:sp>
      <p:sp>
        <p:nvSpPr>
          <p:cNvPr id="26" name="t33">
            <a:extLst>
              <a:ext uri="{FF2B5EF4-FFF2-40B4-BE49-F238E27FC236}">
                <a16:creationId xmlns:a16="http://schemas.microsoft.com/office/drawing/2014/main" id="{8FE3D179-E128-449B-9699-5005DA2B00E1}"/>
              </a:ext>
            </a:extLst>
          </p:cNvPr>
          <p:cNvSpPr>
            <a:spLocks noGrp="1"/>
          </p:cNvSpPr>
          <p:nvPr/>
        </p:nvSpPr>
        <p:spPr>
          <a:xfrm>
            <a:off x="5572125" y="5229225"/>
            <a:ext cx="5857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执行与反馈</a:t>
            </a:r>
          </a:p>
        </p:txBody>
      </p:sp>
    </p:spTree>
    <p:extLst>
      <p:ext uri="{BB962C8B-B14F-4D97-AF65-F5344CB8AC3E}">
        <p14:creationId xmlns:p14="http://schemas.microsoft.com/office/powerpoint/2010/main" val="2142201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34">
            <a:extLst>
              <a:ext uri="{FF2B5EF4-FFF2-40B4-BE49-F238E27FC236}">
                <a16:creationId xmlns:a16="http://schemas.microsoft.com/office/drawing/2014/main" id="{723C04EC-1851-431C-92BC-74483C91836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AI 领域 IDEA 自检</a:t>
            </a:r>
          </a:p>
        </p:txBody>
      </p:sp>
      <p:sp>
        <p:nvSpPr>
          <p:cNvPr id="2" name="t35">
            <a:extLst>
              <a:ext uri="{FF2B5EF4-FFF2-40B4-BE49-F238E27FC236}">
                <a16:creationId xmlns:a16="http://schemas.microsoft.com/office/drawing/2014/main" id="{CF704100-4B7F-4407-8A2C-DB9663C9626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举证说明</a:t>
            </a:r>
          </a:p>
        </p:txBody>
      </p:sp>
      <p:sp>
        <p:nvSpPr>
          <p:cNvPr id="3" name="t36">
            <a:extLst>
              <a:ext uri="{FF2B5EF4-FFF2-40B4-BE49-F238E27FC236}">
                <a16:creationId xmlns:a16="http://schemas.microsoft.com/office/drawing/2014/main" id="{12788754-C412-4578-8893-91B3CD946C05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专利申请阶段，论述机制与适用条件，不填入未取得的性能结果。</a:t>
            </a:r>
          </a:p>
        </p:txBody>
      </p:sp>
      <p:sp>
        <p:nvSpPr>
          <p:cNvPr id="4" name="l37">
            <a:extLst>
              <a:ext uri="{FF2B5EF4-FFF2-40B4-BE49-F238E27FC236}">
                <a16:creationId xmlns:a16="http://schemas.microsoft.com/office/drawing/2014/main" id="{996BF1FC-FB3F-4235-8E87-19D51FC9E75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38">
            <a:extLst>
              <a:ext uri="{FF2B5EF4-FFF2-40B4-BE49-F238E27FC236}">
                <a16:creationId xmlns:a16="http://schemas.microsoft.com/office/drawing/2014/main" id="{4C21129D-F811-4D91-BBC6-286371A75AD6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39">
            <a:extLst>
              <a:ext uri="{FF2B5EF4-FFF2-40B4-BE49-F238E27FC236}">
                <a16:creationId xmlns:a16="http://schemas.microsoft.com/office/drawing/2014/main" id="{179525EC-58D8-4DF0-B455-89EA36A7C4B2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7" name="l40">
            <a:extLst>
              <a:ext uri="{FF2B5EF4-FFF2-40B4-BE49-F238E27FC236}">
                <a16:creationId xmlns:a16="http://schemas.microsoft.com/office/drawing/2014/main" id="{419793FE-241E-4FF1-BAE8-9541A4077FA1}"/>
              </a:ext>
            </a:extLst>
          </p:cNvPr>
          <p:cNvSpPr>
            <a:spLocks noGrp="1"/>
          </p:cNvSpPr>
          <p:nvPr/>
        </p:nvSpPr>
        <p:spPr>
          <a:xfrm>
            <a:off x="609600" y="2162175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41">
            <a:extLst>
              <a:ext uri="{FF2B5EF4-FFF2-40B4-BE49-F238E27FC236}">
                <a16:creationId xmlns:a16="http://schemas.microsoft.com/office/drawing/2014/main" id="{F225E661-5E8A-493F-9066-D7CCD2C8D0C9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723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25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t42">
            <a:extLst>
              <a:ext uri="{FF2B5EF4-FFF2-40B4-BE49-F238E27FC236}">
                <a16:creationId xmlns:a16="http://schemas.microsoft.com/office/drawing/2014/main" id="{896B2902-25E3-4FA0-9924-D0A01A897793}"/>
              </a:ext>
            </a:extLst>
          </p:cNvPr>
          <p:cNvSpPr>
            <a:spLocks noGrp="1"/>
          </p:cNvSpPr>
          <p:nvPr/>
        </p:nvSpPr>
        <p:spPr>
          <a:xfrm>
            <a:off x="1514475" y="2324100"/>
            <a:ext cx="3524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逐步验证车端提议</a:t>
            </a:r>
          </a:p>
        </p:txBody>
      </p:sp>
      <p:sp>
        <p:nvSpPr>
          <p:cNvPr id="10" name="t43">
            <a:extLst>
              <a:ext uri="{FF2B5EF4-FFF2-40B4-BE49-F238E27FC236}">
                <a16:creationId xmlns:a16="http://schemas.microsoft.com/office/drawing/2014/main" id="{E2B37B1D-9EF3-4378-921C-B8890F300B74}"/>
              </a:ext>
            </a:extLst>
          </p:cNvPr>
          <p:cNvSpPr>
            <a:spLocks noGrp="1"/>
          </p:cNvSpPr>
          <p:nvPr/>
        </p:nvSpPr>
        <p:spPr>
          <a:xfrm>
            <a:off x="5219700" y="2276475"/>
            <a:ext cx="6172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车端提出下一步工具调用，云端依据任务约束和共享真实观察判断是否通过。</a:t>
            </a:r>
          </a:p>
        </p:txBody>
      </p:sp>
      <p:sp>
        <p:nvSpPr>
          <p:cNvPr id="11" name="l44">
            <a:extLst>
              <a:ext uri="{FF2B5EF4-FFF2-40B4-BE49-F238E27FC236}">
                <a16:creationId xmlns:a16="http://schemas.microsoft.com/office/drawing/2014/main" id="{46FDE92D-49BF-4DF2-A3AB-95A4806A509C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45">
            <a:extLst>
              <a:ext uri="{FF2B5EF4-FFF2-40B4-BE49-F238E27FC236}">
                <a16:creationId xmlns:a16="http://schemas.microsoft.com/office/drawing/2014/main" id="{D88F167C-2E00-41A8-B279-34A6FBF79327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723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25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t46">
            <a:extLst>
              <a:ext uri="{FF2B5EF4-FFF2-40B4-BE49-F238E27FC236}">
                <a16:creationId xmlns:a16="http://schemas.microsoft.com/office/drawing/2014/main" id="{1D2EB6E7-E16B-43FD-9F65-8A609B8D05F6}"/>
              </a:ext>
            </a:extLst>
          </p:cNvPr>
          <p:cNvSpPr>
            <a:spLocks noGrp="1"/>
          </p:cNvSpPr>
          <p:nvPr/>
        </p:nvSpPr>
        <p:spPr>
          <a:xfrm>
            <a:off x="1514475" y="3571875"/>
            <a:ext cx="3524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不通过时云端修复</a:t>
            </a:r>
          </a:p>
        </p:txBody>
      </p:sp>
      <p:sp>
        <p:nvSpPr>
          <p:cNvPr id="14" name="t47">
            <a:extLst>
              <a:ext uri="{FF2B5EF4-FFF2-40B4-BE49-F238E27FC236}">
                <a16:creationId xmlns:a16="http://schemas.microsoft.com/office/drawing/2014/main" id="{8F833605-10DF-49BF-948D-6BF6862F223F}"/>
              </a:ext>
            </a:extLst>
          </p:cNvPr>
          <p:cNvSpPr>
            <a:spLocks noGrp="1"/>
          </p:cNvSpPr>
          <p:nvPr/>
        </p:nvSpPr>
        <p:spPr>
          <a:xfrm>
            <a:off x="5219700" y="3524250"/>
            <a:ext cx="6172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REPAIR 由云端模型重新进行当前一步的推理和工具调用，继续推进任务。</a:t>
            </a:r>
          </a:p>
        </p:txBody>
      </p:sp>
      <p:sp>
        <p:nvSpPr>
          <p:cNvPr id="15" name="l48">
            <a:extLst>
              <a:ext uri="{FF2B5EF4-FFF2-40B4-BE49-F238E27FC236}">
                <a16:creationId xmlns:a16="http://schemas.microsoft.com/office/drawing/2014/main" id="{25786EA1-1AD5-4549-9533-10F9B0E36FEB}"/>
              </a:ext>
            </a:extLst>
          </p:cNvPr>
          <p:cNvSpPr>
            <a:spLocks noGrp="1"/>
          </p:cNvSpPr>
          <p:nvPr/>
        </p:nvSpPr>
        <p:spPr>
          <a:xfrm>
            <a:off x="609600" y="4657725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49">
            <a:extLst>
              <a:ext uri="{FF2B5EF4-FFF2-40B4-BE49-F238E27FC236}">
                <a16:creationId xmlns:a16="http://schemas.microsoft.com/office/drawing/2014/main" id="{E0377661-31E3-4476-BFAE-7F6FFA603137}"/>
              </a:ext>
            </a:extLst>
          </p:cNvPr>
          <p:cNvSpPr>
            <a:spLocks noGrp="1"/>
          </p:cNvSpPr>
          <p:nvPr/>
        </p:nvSpPr>
        <p:spPr>
          <a:xfrm>
            <a:off x="609600" y="4848225"/>
            <a:ext cx="723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25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t50">
            <a:extLst>
              <a:ext uri="{FF2B5EF4-FFF2-40B4-BE49-F238E27FC236}">
                <a16:creationId xmlns:a16="http://schemas.microsoft.com/office/drawing/2014/main" id="{29CCF9E4-DED1-4366-A950-58B096E89B4E}"/>
              </a:ext>
            </a:extLst>
          </p:cNvPr>
          <p:cNvSpPr>
            <a:spLocks noGrp="1"/>
          </p:cNvSpPr>
          <p:nvPr/>
        </p:nvSpPr>
        <p:spPr>
          <a:xfrm>
            <a:off x="1514475" y="4819650"/>
            <a:ext cx="3524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共同环境继续任务</a:t>
            </a:r>
          </a:p>
        </p:txBody>
      </p:sp>
      <p:sp>
        <p:nvSpPr>
          <p:cNvPr id="18" name="t51">
            <a:extLst>
              <a:ext uri="{FF2B5EF4-FFF2-40B4-BE49-F238E27FC236}">
                <a16:creationId xmlns:a16="http://schemas.microsoft.com/office/drawing/2014/main" id="{1943EF6E-71F2-4ADB-9EFD-95DE5F9FB23C}"/>
              </a:ext>
            </a:extLst>
          </p:cNvPr>
          <p:cNvSpPr>
            <a:spLocks noGrp="1"/>
          </p:cNvSpPr>
          <p:nvPr/>
        </p:nvSpPr>
        <p:spPr>
          <a:xfrm>
            <a:off x="5219700" y="4772025"/>
            <a:ext cx="6172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两端共用工具环境与真实反馈历史；该协作流程不要求重训练模型。</a:t>
            </a:r>
          </a:p>
        </p:txBody>
      </p:sp>
      <p:sp>
        <p:nvSpPr>
          <p:cNvPr id="19" name="l52">
            <a:extLst>
              <a:ext uri="{FF2B5EF4-FFF2-40B4-BE49-F238E27FC236}">
                <a16:creationId xmlns:a16="http://schemas.microsoft.com/office/drawing/2014/main" id="{1ABC4E17-D350-412C-BFEE-E01D15219005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53">
            <a:extLst>
              <a:ext uri="{FF2B5EF4-FFF2-40B4-BE49-F238E27FC236}">
                <a16:creationId xmlns:a16="http://schemas.microsoft.com/office/drawing/2014/main" id="{0DA6709C-0212-4E91-B34F-BDFA28C7F96B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成本收益是待验证假设：每步均需云端往返，不声称调用次数下降。</a:t>
            </a:r>
          </a:p>
        </p:txBody>
      </p:sp>
    </p:spTree>
    <p:extLst>
      <p:ext uri="{BB962C8B-B14F-4D97-AF65-F5344CB8AC3E}">
        <p14:creationId xmlns:p14="http://schemas.microsoft.com/office/powerpoint/2010/main" val="2058219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54">
            <a:extLst>
              <a:ext uri="{FF2B5EF4-FFF2-40B4-BE49-F238E27FC236}">
                <a16:creationId xmlns:a16="http://schemas.microsoft.com/office/drawing/2014/main" id="{5CF5F52A-3FEB-40D7-9E97-E7F26B41248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01  IDEA 发明背景</a:t>
            </a:r>
          </a:p>
        </p:txBody>
      </p:sp>
      <p:sp>
        <p:nvSpPr>
          <p:cNvPr id="2" name="t55">
            <a:extLst>
              <a:ext uri="{FF2B5EF4-FFF2-40B4-BE49-F238E27FC236}">
                <a16:creationId xmlns:a16="http://schemas.microsoft.com/office/drawing/2014/main" id="{4151D546-871C-4B2A-BEC2-AA02F912479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座舱任务从回答转向连续办事</a:t>
            </a:r>
          </a:p>
        </p:txBody>
      </p:sp>
      <p:sp>
        <p:nvSpPr>
          <p:cNvPr id="3" name="t56">
            <a:extLst>
              <a:ext uri="{FF2B5EF4-FFF2-40B4-BE49-F238E27FC236}">
                <a16:creationId xmlns:a16="http://schemas.microsoft.com/office/drawing/2014/main" id="{5F04762E-CC4E-4BA1-81FD-5123491B1E79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每一步依赖上一步的真实结果，错误动作可能改变导航或座舱状态。</a:t>
            </a:r>
          </a:p>
        </p:txBody>
      </p:sp>
      <p:sp>
        <p:nvSpPr>
          <p:cNvPr id="4" name="l57">
            <a:extLst>
              <a:ext uri="{FF2B5EF4-FFF2-40B4-BE49-F238E27FC236}">
                <a16:creationId xmlns:a16="http://schemas.microsoft.com/office/drawing/2014/main" id="{1591FFF9-861B-41AB-80E4-278566D5F7EB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58">
            <a:extLst>
              <a:ext uri="{FF2B5EF4-FFF2-40B4-BE49-F238E27FC236}">
                <a16:creationId xmlns:a16="http://schemas.microsoft.com/office/drawing/2014/main" id="{946E4488-0E2C-4B2A-B2C5-E4DF8072FC22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59">
            <a:extLst>
              <a:ext uri="{FF2B5EF4-FFF2-40B4-BE49-F238E27FC236}">
                <a16:creationId xmlns:a16="http://schemas.microsoft.com/office/drawing/2014/main" id="{F2416315-DC8E-4CB8-B350-B0EC9D1487CB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7" name="t60">
            <a:extLst>
              <a:ext uri="{FF2B5EF4-FFF2-40B4-BE49-F238E27FC236}">
                <a16:creationId xmlns:a16="http://schemas.microsoft.com/office/drawing/2014/main" id="{269B38E7-B30A-44D7-B9F2-9E09D51233BC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“找一个沿途空闲快充站，绕行不超过 10 分钟，并启动导航。”</a:t>
            </a:r>
          </a:p>
        </p:txBody>
      </p:sp>
      <p:sp>
        <p:nvSpPr>
          <p:cNvPr id="8" name="l61">
            <a:extLst>
              <a:ext uri="{FF2B5EF4-FFF2-40B4-BE49-F238E27FC236}">
                <a16:creationId xmlns:a16="http://schemas.microsoft.com/office/drawing/2014/main" id="{F801BDAF-0FA1-4677-8B28-AD8F8E73D77F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10477500" cy="0"/>
          </a:xfrm>
          <a:prstGeom prst="line">
            <a:avLst/>
          </a:prstGeom>
          <a:noFill/>
          <a:ln w="19050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b62">
            <a:extLst>
              <a:ext uri="{FF2B5EF4-FFF2-40B4-BE49-F238E27FC236}">
                <a16:creationId xmlns:a16="http://schemas.microsoft.com/office/drawing/2014/main" id="{25A89EB0-78A6-4936-AC93-CF54E9A811EC}"/>
              </a:ext>
            </a:extLst>
          </p:cNvPr>
          <p:cNvSpPr>
            <a:spLocks noGrp="1"/>
          </p:cNvSpPr>
          <p:nvPr/>
        </p:nvSpPr>
        <p:spPr>
          <a:xfrm>
            <a:off x="723900" y="3267075"/>
            <a:ext cx="142875" cy="142875"/>
          </a:xfrm>
          <a:prstGeom prst="ellipse">
            <a:avLst/>
          </a:prstGeom>
          <a:solidFill>
            <a:srgbClr val="1B1B1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63">
            <a:extLst>
              <a:ext uri="{FF2B5EF4-FFF2-40B4-BE49-F238E27FC236}">
                <a16:creationId xmlns:a16="http://schemas.microsoft.com/office/drawing/2014/main" id="{09DFC853-F3A8-488B-B7CA-07C4730982B9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809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1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t64">
            <a:extLst>
              <a:ext uri="{FF2B5EF4-FFF2-40B4-BE49-F238E27FC236}">
                <a16:creationId xmlns:a16="http://schemas.microsoft.com/office/drawing/2014/main" id="{642751A7-F1F5-402B-935C-3D4EDA7AAE14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23717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读取车辆状态</a:t>
            </a:r>
          </a:p>
        </p:txBody>
      </p:sp>
      <p:sp>
        <p:nvSpPr>
          <p:cNvPr id="12" name="t65">
            <a:extLst>
              <a:ext uri="{FF2B5EF4-FFF2-40B4-BE49-F238E27FC236}">
                <a16:creationId xmlns:a16="http://schemas.microsoft.com/office/drawing/2014/main" id="{CC5834C4-5F21-4585-ACED-BDA6F3E1932E}"/>
              </a:ext>
            </a:extLst>
          </p:cNvPr>
          <p:cNvSpPr>
            <a:spLocks noGrp="1"/>
          </p:cNvSpPr>
          <p:nvPr/>
        </p:nvSpPr>
        <p:spPr>
          <a:xfrm>
            <a:off x="609600" y="4219575"/>
            <a:ext cx="23717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电量、位置</a:t>
            </a:r>
          </a:p>
        </p:txBody>
      </p:sp>
      <p:sp>
        <p:nvSpPr>
          <p:cNvPr id="13" name="b66">
            <a:extLst>
              <a:ext uri="{FF2B5EF4-FFF2-40B4-BE49-F238E27FC236}">
                <a16:creationId xmlns:a16="http://schemas.microsoft.com/office/drawing/2014/main" id="{0B4677C2-875F-4817-85FE-01AC7608F5D5}"/>
              </a:ext>
            </a:extLst>
          </p:cNvPr>
          <p:cNvSpPr>
            <a:spLocks noGrp="1"/>
          </p:cNvSpPr>
          <p:nvPr/>
        </p:nvSpPr>
        <p:spPr>
          <a:xfrm>
            <a:off x="3495675" y="3267075"/>
            <a:ext cx="142875" cy="142875"/>
          </a:xfrm>
          <a:prstGeom prst="ellipse">
            <a:avLst/>
          </a:prstGeom>
          <a:solidFill>
            <a:srgbClr val="1B1B1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67">
            <a:extLst>
              <a:ext uri="{FF2B5EF4-FFF2-40B4-BE49-F238E27FC236}">
                <a16:creationId xmlns:a16="http://schemas.microsoft.com/office/drawing/2014/main" id="{4D6B2417-7E9F-4725-AD82-D5B5C9CF3AB8}"/>
              </a:ext>
            </a:extLst>
          </p:cNvPr>
          <p:cNvSpPr>
            <a:spLocks noGrp="1"/>
          </p:cNvSpPr>
          <p:nvPr/>
        </p:nvSpPr>
        <p:spPr>
          <a:xfrm>
            <a:off x="3381375" y="2819400"/>
            <a:ext cx="809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1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t68">
            <a:extLst>
              <a:ext uri="{FF2B5EF4-FFF2-40B4-BE49-F238E27FC236}">
                <a16:creationId xmlns:a16="http://schemas.microsoft.com/office/drawing/2014/main" id="{A760AB20-CC2B-4ED6-ABEC-664D461B3998}"/>
              </a:ext>
            </a:extLst>
          </p:cNvPr>
          <p:cNvSpPr>
            <a:spLocks noGrp="1"/>
          </p:cNvSpPr>
          <p:nvPr/>
        </p:nvSpPr>
        <p:spPr>
          <a:xfrm>
            <a:off x="3381375" y="3724275"/>
            <a:ext cx="23717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查询充电站</a:t>
            </a:r>
          </a:p>
        </p:txBody>
      </p:sp>
      <p:sp>
        <p:nvSpPr>
          <p:cNvPr id="16" name="t69">
            <a:extLst>
              <a:ext uri="{FF2B5EF4-FFF2-40B4-BE49-F238E27FC236}">
                <a16:creationId xmlns:a16="http://schemas.microsoft.com/office/drawing/2014/main" id="{0C7023CA-C189-490B-8EE9-00266EA7CE77}"/>
              </a:ext>
            </a:extLst>
          </p:cNvPr>
          <p:cNvSpPr>
            <a:spLocks noGrp="1"/>
          </p:cNvSpPr>
          <p:nvPr/>
        </p:nvSpPr>
        <p:spPr>
          <a:xfrm>
            <a:off x="3381375" y="4219575"/>
            <a:ext cx="23717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空闲、接口</a:t>
            </a:r>
          </a:p>
        </p:txBody>
      </p:sp>
      <p:sp>
        <p:nvSpPr>
          <p:cNvPr id="17" name="b70">
            <a:extLst>
              <a:ext uri="{FF2B5EF4-FFF2-40B4-BE49-F238E27FC236}">
                <a16:creationId xmlns:a16="http://schemas.microsoft.com/office/drawing/2014/main" id="{72DDB9BF-4084-482F-B5CF-55B58FF4532D}"/>
              </a:ext>
            </a:extLst>
          </p:cNvPr>
          <p:cNvSpPr>
            <a:spLocks noGrp="1"/>
          </p:cNvSpPr>
          <p:nvPr/>
        </p:nvSpPr>
        <p:spPr>
          <a:xfrm>
            <a:off x="6267450" y="3267075"/>
            <a:ext cx="142875" cy="142875"/>
          </a:xfrm>
          <a:prstGeom prst="ellipse">
            <a:avLst/>
          </a:prstGeom>
          <a:solidFill>
            <a:srgbClr val="1B1B1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71">
            <a:extLst>
              <a:ext uri="{FF2B5EF4-FFF2-40B4-BE49-F238E27FC236}">
                <a16:creationId xmlns:a16="http://schemas.microsoft.com/office/drawing/2014/main" id="{0D3735AA-E731-48D9-9450-E2DBB5B83B0C}"/>
              </a:ext>
            </a:extLst>
          </p:cNvPr>
          <p:cNvSpPr>
            <a:spLocks noGrp="1"/>
          </p:cNvSpPr>
          <p:nvPr/>
        </p:nvSpPr>
        <p:spPr>
          <a:xfrm>
            <a:off x="6153150" y="2819400"/>
            <a:ext cx="809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1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t72">
            <a:extLst>
              <a:ext uri="{FF2B5EF4-FFF2-40B4-BE49-F238E27FC236}">
                <a16:creationId xmlns:a16="http://schemas.microsoft.com/office/drawing/2014/main" id="{E1AF7F87-BC4F-42B4-87CB-E997645F1932}"/>
              </a:ext>
            </a:extLst>
          </p:cNvPr>
          <p:cNvSpPr>
            <a:spLocks noGrp="1"/>
          </p:cNvSpPr>
          <p:nvPr/>
        </p:nvSpPr>
        <p:spPr>
          <a:xfrm>
            <a:off x="6153150" y="3724275"/>
            <a:ext cx="23717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估算路线</a:t>
            </a:r>
          </a:p>
        </p:txBody>
      </p:sp>
      <p:sp>
        <p:nvSpPr>
          <p:cNvPr id="20" name="t73">
            <a:extLst>
              <a:ext uri="{FF2B5EF4-FFF2-40B4-BE49-F238E27FC236}">
                <a16:creationId xmlns:a16="http://schemas.microsoft.com/office/drawing/2014/main" id="{E93083F4-1253-435E-981D-A65DEB1ACB8A}"/>
              </a:ext>
            </a:extLst>
          </p:cNvPr>
          <p:cNvSpPr>
            <a:spLocks noGrp="1"/>
          </p:cNvSpPr>
          <p:nvPr/>
        </p:nvSpPr>
        <p:spPr>
          <a:xfrm>
            <a:off x="6153150" y="4219575"/>
            <a:ext cx="23717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绕行、可达</a:t>
            </a:r>
          </a:p>
        </p:txBody>
      </p:sp>
      <p:sp>
        <p:nvSpPr>
          <p:cNvPr id="21" name="b74">
            <a:extLst>
              <a:ext uri="{FF2B5EF4-FFF2-40B4-BE49-F238E27FC236}">
                <a16:creationId xmlns:a16="http://schemas.microsoft.com/office/drawing/2014/main" id="{50A488AC-FCD9-4B02-9B1C-9EFBF4B93933}"/>
              </a:ext>
            </a:extLst>
          </p:cNvPr>
          <p:cNvSpPr>
            <a:spLocks noGrp="1"/>
          </p:cNvSpPr>
          <p:nvPr/>
        </p:nvSpPr>
        <p:spPr>
          <a:xfrm>
            <a:off x="9039225" y="3267075"/>
            <a:ext cx="142875" cy="142875"/>
          </a:xfrm>
          <a:prstGeom prst="ellipse">
            <a:avLst/>
          </a:prstGeom>
          <a:solidFill>
            <a:srgbClr val="B7192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75">
            <a:extLst>
              <a:ext uri="{FF2B5EF4-FFF2-40B4-BE49-F238E27FC236}">
                <a16:creationId xmlns:a16="http://schemas.microsoft.com/office/drawing/2014/main" id="{BB825C31-41DB-4AD6-946D-47C45693DCF7}"/>
              </a:ext>
            </a:extLst>
          </p:cNvPr>
          <p:cNvSpPr>
            <a:spLocks noGrp="1"/>
          </p:cNvSpPr>
          <p:nvPr/>
        </p:nvSpPr>
        <p:spPr>
          <a:xfrm>
            <a:off x="8924925" y="2819400"/>
            <a:ext cx="809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3" name="t76">
            <a:extLst>
              <a:ext uri="{FF2B5EF4-FFF2-40B4-BE49-F238E27FC236}">
                <a16:creationId xmlns:a16="http://schemas.microsoft.com/office/drawing/2014/main" id="{6A007DF4-E01D-4C05-B673-85262CBBA604}"/>
              </a:ext>
            </a:extLst>
          </p:cNvPr>
          <p:cNvSpPr>
            <a:spLocks noGrp="1"/>
          </p:cNvSpPr>
          <p:nvPr/>
        </p:nvSpPr>
        <p:spPr>
          <a:xfrm>
            <a:off x="8924925" y="3724275"/>
            <a:ext cx="23717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0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启动导航</a:t>
            </a:r>
          </a:p>
        </p:txBody>
      </p:sp>
      <p:sp>
        <p:nvSpPr>
          <p:cNvPr id="24" name="t77">
            <a:extLst>
              <a:ext uri="{FF2B5EF4-FFF2-40B4-BE49-F238E27FC236}">
                <a16:creationId xmlns:a16="http://schemas.microsoft.com/office/drawing/2014/main" id="{3B7B8933-CAC5-4479-B1C2-93B11BC6321B}"/>
              </a:ext>
            </a:extLst>
          </p:cNvPr>
          <p:cNvSpPr>
            <a:spLocks noGrp="1"/>
          </p:cNvSpPr>
          <p:nvPr/>
        </p:nvSpPr>
        <p:spPr>
          <a:xfrm>
            <a:off x="8924925" y="4219575"/>
            <a:ext cx="23717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改变座舱状态</a:t>
            </a:r>
          </a:p>
        </p:txBody>
      </p:sp>
      <p:sp>
        <p:nvSpPr>
          <p:cNvPr id="25" name="l78">
            <a:extLst>
              <a:ext uri="{FF2B5EF4-FFF2-40B4-BE49-F238E27FC236}">
                <a16:creationId xmlns:a16="http://schemas.microsoft.com/office/drawing/2014/main" id="{EA8618D9-37A2-4529-8FDF-1C4388DE8D71}"/>
              </a:ext>
            </a:extLst>
          </p:cNvPr>
          <p:cNvSpPr>
            <a:spLocks noGrp="1"/>
          </p:cNvSpPr>
          <p:nvPr/>
        </p:nvSpPr>
        <p:spPr>
          <a:xfrm>
            <a:off x="609600" y="4962525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79">
            <a:extLst>
              <a:ext uri="{FF2B5EF4-FFF2-40B4-BE49-F238E27FC236}">
                <a16:creationId xmlns:a16="http://schemas.microsoft.com/office/drawing/2014/main" id="{3C589B21-7707-47E5-95C5-5F6A180B7F1B}"/>
              </a:ext>
            </a:extLst>
          </p:cNvPr>
          <p:cNvSpPr>
            <a:spLocks noGrp="1"/>
          </p:cNvSpPr>
          <p:nvPr/>
        </p:nvSpPr>
        <p:spPr>
          <a:xfrm>
            <a:off x="609600" y="5133975"/>
            <a:ext cx="15621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关键问题</a:t>
            </a:r>
          </a:p>
        </p:txBody>
      </p:sp>
      <p:sp>
        <p:nvSpPr>
          <p:cNvPr id="27" name="t80">
            <a:extLst>
              <a:ext uri="{FF2B5EF4-FFF2-40B4-BE49-F238E27FC236}">
                <a16:creationId xmlns:a16="http://schemas.microsoft.com/office/drawing/2014/main" id="{AE707A94-16E7-48B2-8AFF-0DF7B20188AD}"/>
              </a:ext>
            </a:extLst>
          </p:cNvPr>
          <p:cNvSpPr>
            <a:spLocks noGrp="1"/>
          </p:cNvSpPr>
          <p:nvPr/>
        </p:nvSpPr>
        <p:spPr>
          <a:xfrm>
            <a:off x="2190750" y="5095875"/>
            <a:ext cx="93916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如何逐步验证车端 Agent，并在不通过时由云端接管本步？</a:t>
            </a:r>
          </a:p>
        </p:txBody>
      </p:sp>
    </p:spTree>
    <p:extLst>
      <p:ext uri="{BB962C8B-B14F-4D97-AF65-F5344CB8AC3E}">
        <p14:creationId xmlns:p14="http://schemas.microsoft.com/office/powerpoint/2010/main" val="228915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81">
            <a:extLst>
              <a:ext uri="{FF2B5EF4-FFF2-40B4-BE49-F238E27FC236}">
                <a16:creationId xmlns:a16="http://schemas.microsoft.com/office/drawing/2014/main" id="{CBDB1062-2457-4BB9-9B82-2E77990116E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01  IDEA 发明背景</a:t>
            </a:r>
          </a:p>
        </p:txBody>
      </p:sp>
      <p:sp>
        <p:nvSpPr>
          <p:cNvPr id="2" name="t82">
            <a:extLst>
              <a:ext uri="{FF2B5EF4-FFF2-40B4-BE49-F238E27FC236}">
                <a16:creationId xmlns:a16="http://schemas.microsoft.com/office/drawing/2014/main" id="{33AD34AE-AAEB-4EB4-9064-F305B1E824D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协同差异在于云端何时介入、产出什么</a:t>
            </a:r>
          </a:p>
        </p:txBody>
      </p:sp>
      <p:sp>
        <p:nvSpPr>
          <p:cNvPr id="3" name="t83">
            <a:extLst>
              <a:ext uri="{FF2B5EF4-FFF2-40B4-BE49-F238E27FC236}">
                <a16:creationId xmlns:a16="http://schemas.microsoft.com/office/drawing/2014/main" id="{247858B1-B982-4221-A6B8-B4D57677D86B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“车云双发”描述并行发送；不能据此推断它一定审核每个工具动作。</a:t>
            </a:r>
          </a:p>
        </p:txBody>
      </p:sp>
      <p:sp>
        <p:nvSpPr>
          <p:cNvPr id="4" name="l84">
            <a:extLst>
              <a:ext uri="{FF2B5EF4-FFF2-40B4-BE49-F238E27FC236}">
                <a16:creationId xmlns:a16="http://schemas.microsoft.com/office/drawing/2014/main" id="{86F59D85-4AE6-41D2-AA0C-7BEBADD71794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85">
            <a:extLst>
              <a:ext uri="{FF2B5EF4-FFF2-40B4-BE49-F238E27FC236}">
                <a16:creationId xmlns:a16="http://schemas.microsoft.com/office/drawing/2014/main" id="{1E7B3565-420E-4D31-92D9-5B9A5624AF6A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86">
            <a:extLst>
              <a:ext uri="{FF2B5EF4-FFF2-40B4-BE49-F238E27FC236}">
                <a16:creationId xmlns:a16="http://schemas.microsoft.com/office/drawing/2014/main" id="{174D2400-84DC-4A1F-B41B-45504B76B87A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7" name="l87">
            <a:extLst>
              <a:ext uri="{FF2B5EF4-FFF2-40B4-BE49-F238E27FC236}">
                <a16:creationId xmlns:a16="http://schemas.microsoft.com/office/drawing/2014/main" id="{634B631F-C818-4776-BE6A-7FE3F2D09C8A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3371850" cy="0"/>
          </a:xfrm>
          <a:prstGeom prst="line">
            <a:avLst/>
          </a:prstGeom>
          <a:noFill/>
          <a:ln w="38100">
            <a:solidFill>
              <a:srgbClr val="1B1B1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88">
            <a:extLst>
              <a:ext uri="{FF2B5EF4-FFF2-40B4-BE49-F238E27FC236}">
                <a16:creationId xmlns:a16="http://schemas.microsoft.com/office/drawing/2014/main" id="{9A934D2F-22F8-4990-B6C0-5DBFDBCBC7BD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33718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请求／整答级</a:t>
            </a:r>
          </a:p>
        </p:txBody>
      </p:sp>
      <p:sp>
        <p:nvSpPr>
          <p:cNvPr id="9" name="t89">
            <a:extLst>
              <a:ext uri="{FF2B5EF4-FFF2-40B4-BE49-F238E27FC236}">
                <a16:creationId xmlns:a16="http://schemas.microsoft.com/office/drawing/2014/main" id="{CAFE5222-0CA3-4E07-8EF9-963CC3022151}"/>
              </a:ext>
            </a:extLst>
          </p:cNvPr>
          <p:cNvSpPr>
            <a:spLocks noGrp="1"/>
          </p:cNvSpPr>
          <p:nvPr/>
        </p:nvSpPr>
        <p:spPr>
          <a:xfrm>
            <a:off x="609600" y="2981325"/>
            <a:ext cx="33718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725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车端或云端生成整答</a:t>
            </a:r>
          </a:p>
        </p:txBody>
      </p:sp>
      <p:sp>
        <p:nvSpPr>
          <p:cNvPr id="10" name="t90">
            <a:extLst>
              <a:ext uri="{FF2B5EF4-FFF2-40B4-BE49-F238E27FC236}">
                <a16:creationId xmlns:a16="http://schemas.microsoft.com/office/drawing/2014/main" id="{8E5E9B0C-AF25-434F-8C93-43FCD7DE7A0A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33718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路由、级联、并行双发</a:t>
            </a:r>
          </a:p>
        </p:txBody>
      </p:sp>
      <p:sp>
        <p:nvSpPr>
          <p:cNvPr id="11" name="l91">
            <a:extLst>
              <a:ext uri="{FF2B5EF4-FFF2-40B4-BE49-F238E27FC236}">
                <a16:creationId xmlns:a16="http://schemas.microsoft.com/office/drawing/2014/main" id="{B96E4EF2-6CF5-4B8C-9822-B85EC1E570E0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337185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92">
            <a:extLst>
              <a:ext uri="{FF2B5EF4-FFF2-40B4-BE49-F238E27FC236}">
                <a16:creationId xmlns:a16="http://schemas.microsoft.com/office/drawing/2014/main" id="{0AF98442-4037-41D8-AC78-3B73C460D603}"/>
              </a:ext>
            </a:extLst>
          </p:cNvPr>
          <p:cNvSpPr>
            <a:spLocks noGrp="1"/>
          </p:cNvSpPr>
          <p:nvPr/>
        </p:nvSpPr>
        <p:spPr>
          <a:xfrm>
            <a:off x="609600" y="4600575"/>
            <a:ext cx="33718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72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并行双发可由小模型决定是否采用云端回复</a:t>
            </a:r>
          </a:p>
        </p:txBody>
      </p:sp>
      <p:sp>
        <p:nvSpPr>
          <p:cNvPr id="13" name="l93">
            <a:extLst>
              <a:ext uri="{FF2B5EF4-FFF2-40B4-BE49-F238E27FC236}">
                <a16:creationId xmlns:a16="http://schemas.microsoft.com/office/drawing/2014/main" id="{5B48F182-7B35-42B8-A03E-298ABFC4FBF9}"/>
              </a:ext>
            </a:extLst>
          </p:cNvPr>
          <p:cNvSpPr>
            <a:spLocks noGrp="1"/>
          </p:cNvSpPr>
          <p:nvPr/>
        </p:nvSpPr>
        <p:spPr>
          <a:xfrm>
            <a:off x="4295775" y="2190750"/>
            <a:ext cx="3371850" cy="0"/>
          </a:xfrm>
          <a:prstGeom prst="line">
            <a:avLst/>
          </a:prstGeom>
          <a:noFill/>
          <a:ln w="38100">
            <a:solidFill>
              <a:srgbClr val="1B1B1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94">
            <a:extLst>
              <a:ext uri="{FF2B5EF4-FFF2-40B4-BE49-F238E27FC236}">
                <a16:creationId xmlns:a16="http://schemas.microsoft.com/office/drawing/2014/main" id="{261C4489-4B4F-4BD6-BAF0-A4EF4EA315CA}"/>
              </a:ext>
            </a:extLst>
          </p:cNvPr>
          <p:cNvSpPr>
            <a:spLocks noGrp="1"/>
          </p:cNvSpPr>
          <p:nvPr/>
        </p:nvSpPr>
        <p:spPr>
          <a:xfrm>
            <a:off x="4295775" y="2390775"/>
            <a:ext cx="33718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云端逐步生成</a:t>
            </a:r>
          </a:p>
        </p:txBody>
      </p:sp>
      <p:sp>
        <p:nvSpPr>
          <p:cNvPr id="15" name="t95">
            <a:extLst>
              <a:ext uri="{FF2B5EF4-FFF2-40B4-BE49-F238E27FC236}">
                <a16:creationId xmlns:a16="http://schemas.microsoft.com/office/drawing/2014/main" id="{CAC19CC8-B351-49C4-B62F-5D06FE93B0CE}"/>
              </a:ext>
            </a:extLst>
          </p:cNvPr>
          <p:cNvSpPr>
            <a:spLocks noGrp="1"/>
          </p:cNvSpPr>
          <p:nvPr/>
        </p:nvSpPr>
        <p:spPr>
          <a:xfrm>
            <a:off x="4295775" y="2981325"/>
            <a:ext cx="33718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725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云端产出每个下一动作</a:t>
            </a:r>
          </a:p>
        </p:txBody>
      </p:sp>
      <p:sp>
        <p:nvSpPr>
          <p:cNvPr id="16" name="t96">
            <a:extLst>
              <a:ext uri="{FF2B5EF4-FFF2-40B4-BE49-F238E27FC236}">
                <a16:creationId xmlns:a16="http://schemas.microsoft.com/office/drawing/2014/main" id="{E511BA3C-52A4-4056-8A9C-D13AC7C73816}"/>
              </a:ext>
            </a:extLst>
          </p:cNvPr>
          <p:cNvSpPr>
            <a:spLocks noGrp="1"/>
          </p:cNvSpPr>
          <p:nvPr/>
        </p:nvSpPr>
        <p:spPr>
          <a:xfrm>
            <a:off x="4295775" y="3505200"/>
            <a:ext cx="33718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车端主要负责工具执行</a:t>
            </a:r>
          </a:p>
        </p:txBody>
      </p:sp>
      <p:sp>
        <p:nvSpPr>
          <p:cNvPr id="17" name="l97">
            <a:extLst>
              <a:ext uri="{FF2B5EF4-FFF2-40B4-BE49-F238E27FC236}">
                <a16:creationId xmlns:a16="http://schemas.microsoft.com/office/drawing/2014/main" id="{39654E29-F44B-41EA-B4D8-2269E2AA1C1F}"/>
              </a:ext>
            </a:extLst>
          </p:cNvPr>
          <p:cNvSpPr>
            <a:spLocks noGrp="1"/>
          </p:cNvSpPr>
          <p:nvPr/>
        </p:nvSpPr>
        <p:spPr>
          <a:xfrm>
            <a:off x="4295775" y="4438650"/>
            <a:ext cx="337185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98">
            <a:extLst>
              <a:ext uri="{FF2B5EF4-FFF2-40B4-BE49-F238E27FC236}">
                <a16:creationId xmlns:a16="http://schemas.microsoft.com/office/drawing/2014/main" id="{F645BADC-58D6-4779-8F72-380D8A8A1CAF}"/>
              </a:ext>
            </a:extLst>
          </p:cNvPr>
          <p:cNvSpPr>
            <a:spLocks noGrp="1"/>
          </p:cNvSpPr>
          <p:nvPr/>
        </p:nvSpPr>
        <p:spPr>
          <a:xfrm>
            <a:off x="4295775" y="4600575"/>
            <a:ext cx="33718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72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云端生成始终在每步关键路径上</a:t>
            </a:r>
          </a:p>
        </p:txBody>
      </p:sp>
      <p:sp>
        <p:nvSpPr>
          <p:cNvPr id="19" name="l99">
            <a:extLst>
              <a:ext uri="{FF2B5EF4-FFF2-40B4-BE49-F238E27FC236}">
                <a16:creationId xmlns:a16="http://schemas.microsoft.com/office/drawing/2014/main" id="{2FD6545C-9710-4756-A7EE-2CF4F384D91A}"/>
              </a:ext>
            </a:extLst>
          </p:cNvPr>
          <p:cNvSpPr>
            <a:spLocks noGrp="1"/>
          </p:cNvSpPr>
          <p:nvPr/>
        </p:nvSpPr>
        <p:spPr>
          <a:xfrm>
            <a:off x="7981950" y="2190750"/>
            <a:ext cx="3600450" cy="0"/>
          </a:xfrm>
          <a:prstGeom prst="line">
            <a:avLst/>
          </a:prstGeom>
          <a:noFill/>
          <a:ln w="3810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100">
            <a:extLst>
              <a:ext uri="{FF2B5EF4-FFF2-40B4-BE49-F238E27FC236}">
                <a16:creationId xmlns:a16="http://schemas.microsoft.com/office/drawing/2014/main" id="{B7468546-E33E-453D-BDA2-3AD99CE9835A}"/>
              </a:ext>
            </a:extLst>
          </p:cNvPr>
          <p:cNvSpPr>
            <a:spLocks noGrp="1"/>
          </p:cNvSpPr>
          <p:nvPr/>
        </p:nvSpPr>
        <p:spPr>
          <a:xfrm>
            <a:off x="7981950" y="2390775"/>
            <a:ext cx="3600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本发明：单步协作</a:t>
            </a:r>
          </a:p>
        </p:txBody>
      </p:sp>
      <p:sp>
        <p:nvSpPr>
          <p:cNvPr id="21" name="t101">
            <a:extLst>
              <a:ext uri="{FF2B5EF4-FFF2-40B4-BE49-F238E27FC236}">
                <a16:creationId xmlns:a16="http://schemas.microsoft.com/office/drawing/2014/main" id="{1A60E000-9803-4860-B180-01C3E3B47570}"/>
              </a:ext>
            </a:extLst>
          </p:cNvPr>
          <p:cNvSpPr>
            <a:spLocks noGrp="1"/>
          </p:cNvSpPr>
          <p:nvPr/>
        </p:nvSpPr>
        <p:spPr>
          <a:xfrm>
            <a:off x="7981950" y="2981325"/>
            <a:ext cx="36004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725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车端先提出每一步</a:t>
            </a:r>
          </a:p>
        </p:txBody>
      </p:sp>
      <p:sp>
        <p:nvSpPr>
          <p:cNvPr id="22" name="t102">
            <a:extLst>
              <a:ext uri="{FF2B5EF4-FFF2-40B4-BE49-F238E27FC236}">
                <a16:creationId xmlns:a16="http://schemas.microsoft.com/office/drawing/2014/main" id="{8123E743-F0E0-4425-9474-628532B9D2AA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6004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云端验证 ACCEPT / REPAIR</a:t>
            </a:r>
          </a:p>
        </p:txBody>
      </p:sp>
      <p:sp>
        <p:nvSpPr>
          <p:cNvPr id="23" name="l103">
            <a:extLst>
              <a:ext uri="{FF2B5EF4-FFF2-40B4-BE49-F238E27FC236}">
                <a16:creationId xmlns:a16="http://schemas.microsoft.com/office/drawing/2014/main" id="{D7FAD3DF-2708-45A7-AC0C-BB862737ADC0}"/>
              </a:ext>
            </a:extLst>
          </p:cNvPr>
          <p:cNvSpPr>
            <a:spLocks noGrp="1"/>
          </p:cNvSpPr>
          <p:nvPr/>
        </p:nvSpPr>
        <p:spPr>
          <a:xfrm>
            <a:off x="7981950" y="4438650"/>
            <a:ext cx="360045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104">
            <a:extLst>
              <a:ext uri="{FF2B5EF4-FFF2-40B4-BE49-F238E27FC236}">
                <a16:creationId xmlns:a16="http://schemas.microsoft.com/office/drawing/2014/main" id="{E65F2E2C-E0D4-4CFA-AF5D-C27A730749B1}"/>
              </a:ext>
            </a:extLst>
          </p:cNvPr>
          <p:cNvSpPr>
            <a:spLocks noGrp="1"/>
          </p:cNvSpPr>
          <p:nvPr/>
        </p:nvSpPr>
        <p:spPr>
          <a:xfrm>
            <a:off x="7981950" y="4600575"/>
            <a:ext cx="36004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725" b="0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REPAIR 时云端接管本步推理和工具调用</a:t>
            </a:r>
          </a:p>
        </p:txBody>
      </p:sp>
      <p:sp>
        <p:nvSpPr>
          <p:cNvPr id="25" name="l105">
            <a:extLst>
              <a:ext uri="{FF2B5EF4-FFF2-40B4-BE49-F238E27FC236}">
                <a16:creationId xmlns:a16="http://schemas.microsoft.com/office/drawing/2014/main" id="{2B73D090-8E74-4342-A630-C12EF791D47B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106">
            <a:extLst>
              <a:ext uri="{FF2B5EF4-FFF2-40B4-BE49-F238E27FC236}">
                <a16:creationId xmlns:a16="http://schemas.microsoft.com/office/drawing/2014/main" id="{DEB61021-4EF0-4874-A1D4-6CAADF96B251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协作对象是当前一步工具调用；两端在同一环境中交替推进多步任务。</a:t>
            </a:r>
          </a:p>
        </p:txBody>
      </p:sp>
    </p:spTree>
    <p:extLst>
      <p:ext uri="{BB962C8B-B14F-4D97-AF65-F5344CB8AC3E}">
        <p14:creationId xmlns:p14="http://schemas.microsoft.com/office/powerpoint/2010/main" val="1902605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107">
            <a:extLst>
              <a:ext uri="{FF2B5EF4-FFF2-40B4-BE49-F238E27FC236}">
                <a16:creationId xmlns:a16="http://schemas.microsoft.com/office/drawing/2014/main" id="{94AB5DCB-3B63-4C58-A732-465B05C65700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02  本发明技术方案</a:t>
            </a:r>
          </a:p>
        </p:txBody>
      </p:sp>
      <p:sp>
        <p:nvSpPr>
          <p:cNvPr id="2" name="t108">
            <a:extLst>
              <a:ext uri="{FF2B5EF4-FFF2-40B4-BE49-F238E27FC236}">
                <a16:creationId xmlns:a16="http://schemas.microsoft.com/office/drawing/2014/main" id="{A581519E-0FD2-4528-8081-5BE6DAF57D5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同一环境中的单步 Agent 协作</a:t>
            </a:r>
          </a:p>
        </p:txBody>
      </p:sp>
      <p:sp>
        <p:nvSpPr>
          <p:cNvPr id="3" name="t109">
            <a:extLst>
              <a:ext uri="{FF2B5EF4-FFF2-40B4-BE49-F238E27FC236}">
                <a16:creationId xmlns:a16="http://schemas.microsoft.com/office/drawing/2014/main" id="{866FE76A-6791-435B-87E3-20A5819F528D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验证通过沿用车端提议；不通过由云端接管当前一步。</a:t>
            </a:r>
          </a:p>
        </p:txBody>
      </p:sp>
      <p:sp>
        <p:nvSpPr>
          <p:cNvPr id="4" name="l110">
            <a:extLst>
              <a:ext uri="{FF2B5EF4-FFF2-40B4-BE49-F238E27FC236}">
                <a16:creationId xmlns:a16="http://schemas.microsoft.com/office/drawing/2014/main" id="{B8E1FF50-A281-4FA1-8C56-C1DB66B8D1AB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111">
            <a:extLst>
              <a:ext uri="{FF2B5EF4-FFF2-40B4-BE49-F238E27FC236}">
                <a16:creationId xmlns:a16="http://schemas.microsoft.com/office/drawing/2014/main" id="{EDF46483-10D0-4A6C-8174-234F85FEC389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112">
            <a:extLst>
              <a:ext uri="{FF2B5EF4-FFF2-40B4-BE49-F238E27FC236}">
                <a16:creationId xmlns:a16="http://schemas.microsoft.com/office/drawing/2014/main" id="{A27A18DB-D2A8-47D2-A946-D99B4347048E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7" name="l113">
            <a:extLst>
              <a:ext uri="{FF2B5EF4-FFF2-40B4-BE49-F238E27FC236}">
                <a16:creationId xmlns:a16="http://schemas.microsoft.com/office/drawing/2014/main" id="{814229C7-2195-4073-B4E8-1DA2EE0078A7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10972800" cy="0"/>
          </a:xfrm>
          <a:prstGeom prst="line">
            <a:avLst/>
          </a:prstGeom>
          <a:noFill/>
          <a:ln w="28575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114">
            <a:extLst>
              <a:ext uri="{FF2B5EF4-FFF2-40B4-BE49-F238E27FC236}">
                <a16:creationId xmlns:a16="http://schemas.microsoft.com/office/drawing/2014/main" id="{B12D780A-586C-4679-A108-28B6C40DB879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22383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动作范围</a:t>
            </a:r>
          </a:p>
        </p:txBody>
      </p:sp>
      <p:sp>
        <p:nvSpPr>
          <p:cNvPr id="9" name="t115">
            <a:extLst>
              <a:ext uri="{FF2B5EF4-FFF2-40B4-BE49-F238E27FC236}">
                <a16:creationId xmlns:a16="http://schemas.microsoft.com/office/drawing/2014/main" id="{2AD2E579-8AED-4C02-97FE-BE757626FF5A}"/>
              </a:ext>
            </a:extLst>
          </p:cNvPr>
          <p:cNvSpPr>
            <a:spLocks noGrp="1"/>
          </p:cNvSpPr>
          <p:nvPr/>
        </p:nvSpPr>
        <p:spPr>
          <a:xfrm>
            <a:off x="3028950" y="2381250"/>
            <a:ext cx="84105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导航、媒体、座舱设置等应用层工具；不覆盖转向、制动等实时控制。</a:t>
            </a:r>
          </a:p>
        </p:txBody>
      </p:sp>
      <p:sp>
        <p:nvSpPr>
          <p:cNvPr id="10" name="l116">
            <a:extLst>
              <a:ext uri="{FF2B5EF4-FFF2-40B4-BE49-F238E27FC236}">
                <a16:creationId xmlns:a16="http://schemas.microsoft.com/office/drawing/2014/main" id="{A6C9E611-FA9D-4995-9FA1-11B9CF9460C5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117">
            <a:extLst>
              <a:ext uri="{FF2B5EF4-FFF2-40B4-BE49-F238E27FC236}">
                <a16:creationId xmlns:a16="http://schemas.microsoft.com/office/drawing/2014/main" id="{6C8D4049-13F4-4A7A-9F89-A77FE0610C60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22383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分支选择</a:t>
            </a:r>
          </a:p>
        </p:txBody>
      </p:sp>
      <p:sp>
        <p:nvSpPr>
          <p:cNvPr id="12" name="t118">
            <a:extLst>
              <a:ext uri="{FF2B5EF4-FFF2-40B4-BE49-F238E27FC236}">
                <a16:creationId xmlns:a16="http://schemas.microsoft.com/office/drawing/2014/main" id="{24D0EBED-EA83-4749-88D0-204EB0887B71}"/>
              </a:ext>
            </a:extLst>
          </p:cNvPr>
          <p:cNvSpPr>
            <a:spLocks noGrp="1"/>
          </p:cNvSpPr>
          <p:nvPr/>
        </p:nvSpPr>
        <p:spPr>
          <a:xfrm>
            <a:off x="3028950" y="3448050"/>
            <a:ext cx="84105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ACCEPT 执行车端提议；REPAIR 由云端模型推理并发起当前一步工具调用。</a:t>
            </a:r>
          </a:p>
        </p:txBody>
      </p:sp>
      <p:sp>
        <p:nvSpPr>
          <p:cNvPr id="13" name="l119">
            <a:extLst>
              <a:ext uri="{FF2B5EF4-FFF2-40B4-BE49-F238E27FC236}">
                <a16:creationId xmlns:a16="http://schemas.microsoft.com/office/drawing/2014/main" id="{AB7394B4-A36D-4457-B208-47E2C53B20C1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120">
            <a:extLst>
              <a:ext uri="{FF2B5EF4-FFF2-40B4-BE49-F238E27FC236}">
                <a16:creationId xmlns:a16="http://schemas.microsoft.com/office/drawing/2014/main" id="{CC2969C5-275E-42E6-A03C-F65F52F88B5F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22383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共同环境</a:t>
            </a:r>
          </a:p>
        </p:txBody>
      </p:sp>
      <p:sp>
        <p:nvSpPr>
          <p:cNvPr id="15" name="t121">
            <a:extLst>
              <a:ext uri="{FF2B5EF4-FFF2-40B4-BE49-F238E27FC236}">
                <a16:creationId xmlns:a16="http://schemas.microsoft.com/office/drawing/2014/main" id="{4E7DFD6A-1259-47D2-A37A-B312333827FC}"/>
              </a:ext>
            </a:extLst>
          </p:cNvPr>
          <p:cNvSpPr>
            <a:spLocks noGrp="1"/>
          </p:cNvSpPr>
          <p:nvPr/>
        </p:nvSpPr>
        <p:spPr>
          <a:xfrm>
            <a:off x="3028950" y="4514850"/>
            <a:ext cx="84105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两端使用同一车端工具接口和环境状态；实际工具返回写入共享任务历史。</a:t>
            </a:r>
          </a:p>
        </p:txBody>
      </p:sp>
      <p:sp>
        <p:nvSpPr>
          <p:cNvPr id="16" name="l122">
            <a:extLst>
              <a:ext uri="{FF2B5EF4-FFF2-40B4-BE49-F238E27FC236}">
                <a16:creationId xmlns:a16="http://schemas.microsoft.com/office/drawing/2014/main" id="{B013DA57-5059-4591-8E92-E7EB01C3BCFF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123">
            <a:extLst>
              <a:ext uri="{FF2B5EF4-FFF2-40B4-BE49-F238E27FC236}">
                <a16:creationId xmlns:a16="http://schemas.microsoft.com/office/drawing/2014/main" id="{443A9F02-EDA8-45FB-AAF4-5E859DAF8217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每步云端往返处于执行关键路径，时延和通信成本需要单独评估。</a:t>
            </a:r>
          </a:p>
        </p:txBody>
      </p:sp>
    </p:spTree>
    <p:extLst>
      <p:ext uri="{BB962C8B-B14F-4D97-AF65-F5344CB8AC3E}">
        <p14:creationId xmlns:p14="http://schemas.microsoft.com/office/powerpoint/2010/main" val="2061135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124">
            <a:extLst>
              <a:ext uri="{FF2B5EF4-FFF2-40B4-BE49-F238E27FC236}">
                <a16:creationId xmlns:a16="http://schemas.microsoft.com/office/drawing/2014/main" id="{829B621E-CE71-4544-ABEB-38B8321AC21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02  本发明技术方案</a:t>
            </a:r>
          </a:p>
        </p:txBody>
      </p:sp>
      <p:sp>
        <p:nvSpPr>
          <p:cNvPr id="2" name="t125">
            <a:extLst>
              <a:ext uri="{FF2B5EF4-FFF2-40B4-BE49-F238E27FC236}">
                <a16:creationId xmlns:a16="http://schemas.microsoft.com/office/drawing/2014/main" id="{7AE8E7B6-18E5-45C0-8B26-73F67150054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两端 Agent 共用一个实际工具环境</a:t>
            </a:r>
          </a:p>
        </p:txBody>
      </p:sp>
      <p:sp>
        <p:nvSpPr>
          <p:cNvPr id="3" name="t126">
            <a:extLst>
              <a:ext uri="{FF2B5EF4-FFF2-40B4-BE49-F238E27FC236}">
                <a16:creationId xmlns:a16="http://schemas.microsoft.com/office/drawing/2014/main" id="{693A8E1F-9DD1-469B-82BB-E95489C6064B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云端每步验证车端提议，在 REPAIR 分支接管本步推理与调用。</a:t>
            </a:r>
          </a:p>
        </p:txBody>
      </p:sp>
      <p:sp>
        <p:nvSpPr>
          <p:cNvPr id="4" name="l127">
            <a:extLst>
              <a:ext uri="{FF2B5EF4-FFF2-40B4-BE49-F238E27FC236}">
                <a16:creationId xmlns:a16="http://schemas.microsoft.com/office/drawing/2014/main" id="{CBA65DAA-BD40-49B5-A5D8-7108179802C3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128">
            <a:extLst>
              <a:ext uri="{FF2B5EF4-FFF2-40B4-BE49-F238E27FC236}">
                <a16:creationId xmlns:a16="http://schemas.microsoft.com/office/drawing/2014/main" id="{142880F6-9B1A-4F36-87C8-2119B38C9AD3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129">
            <a:extLst>
              <a:ext uri="{FF2B5EF4-FFF2-40B4-BE49-F238E27FC236}">
                <a16:creationId xmlns:a16="http://schemas.microsoft.com/office/drawing/2014/main" id="{AE7FE761-8CE4-49B2-B997-A9B8518B8F79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7" name="t130">
            <a:extLst>
              <a:ext uri="{FF2B5EF4-FFF2-40B4-BE49-F238E27FC236}">
                <a16:creationId xmlns:a16="http://schemas.microsoft.com/office/drawing/2014/main" id="{8D93F7F0-8EEE-4E4D-B476-88897ED75210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4857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车端 Agent</a:t>
            </a:r>
          </a:p>
        </p:txBody>
      </p:sp>
      <p:sp>
        <p:nvSpPr>
          <p:cNvPr id="8" name="t131">
            <a:extLst>
              <a:ext uri="{FF2B5EF4-FFF2-40B4-BE49-F238E27FC236}">
                <a16:creationId xmlns:a16="http://schemas.microsoft.com/office/drawing/2014/main" id="{FC4A4A67-5389-4730-A549-AC12E610E89D}"/>
              </a:ext>
            </a:extLst>
          </p:cNvPr>
          <p:cNvSpPr>
            <a:spLocks noGrp="1"/>
          </p:cNvSpPr>
          <p:nvPr/>
        </p:nvSpPr>
        <p:spPr>
          <a:xfrm>
            <a:off x="7658100" y="2114550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云端 Agent</a:t>
            </a:r>
          </a:p>
        </p:txBody>
      </p:sp>
      <p:sp>
        <p:nvSpPr>
          <p:cNvPr id="9" name="l132">
            <a:extLst>
              <a:ext uri="{FF2B5EF4-FFF2-40B4-BE49-F238E27FC236}">
                <a16:creationId xmlns:a16="http://schemas.microsoft.com/office/drawing/2014/main" id="{F7FDEA71-9F48-4B12-9F82-CF7F24018026}"/>
              </a:ext>
            </a:extLst>
          </p:cNvPr>
          <p:cNvSpPr>
            <a:spLocks noGrp="1"/>
          </p:cNvSpPr>
          <p:nvPr/>
        </p:nvSpPr>
        <p:spPr>
          <a:xfrm>
            <a:off x="609600" y="2543175"/>
            <a:ext cx="4857750" cy="0"/>
          </a:xfrm>
          <a:prstGeom prst="line">
            <a:avLst/>
          </a:prstGeom>
          <a:noFill/>
          <a:ln w="19050">
            <a:solidFill>
              <a:srgbClr val="1B1B1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l133">
            <a:extLst>
              <a:ext uri="{FF2B5EF4-FFF2-40B4-BE49-F238E27FC236}">
                <a16:creationId xmlns:a16="http://schemas.microsoft.com/office/drawing/2014/main" id="{18627059-8071-47A8-A4FF-E88A32BD7625}"/>
              </a:ext>
            </a:extLst>
          </p:cNvPr>
          <p:cNvSpPr>
            <a:spLocks noGrp="1"/>
          </p:cNvSpPr>
          <p:nvPr/>
        </p:nvSpPr>
        <p:spPr>
          <a:xfrm>
            <a:off x="7658100" y="2543175"/>
            <a:ext cx="39243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134">
            <a:extLst>
              <a:ext uri="{FF2B5EF4-FFF2-40B4-BE49-F238E27FC236}">
                <a16:creationId xmlns:a16="http://schemas.microsoft.com/office/drawing/2014/main" id="{911908D0-977A-4F55-ACD8-98E4678A30A1}"/>
              </a:ext>
            </a:extLst>
          </p:cNvPr>
          <p:cNvSpPr>
            <a:spLocks noGrp="1"/>
          </p:cNvSpPr>
          <p:nvPr/>
        </p:nvSpPr>
        <p:spPr>
          <a:xfrm>
            <a:off x="609600" y="28289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40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小模型提出下一步</a:t>
            </a:r>
          </a:p>
        </p:txBody>
      </p:sp>
      <p:sp>
        <p:nvSpPr>
          <p:cNvPr id="12" name="t135">
            <a:extLst>
              <a:ext uri="{FF2B5EF4-FFF2-40B4-BE49-F238E27FC236}">
                <a16:creationId xmlns:a16="http://schemas.microsoft.com/office/drawing/2014/main" id="{7D4A1E94-B070-4FFB-827E-2FF6A01C9982}"/>
              </a:ext>
            </a:extLst>
          </p:cNvPr>
          <p:cNvSpPr>
            <a:spLocks noGrp="1"/>
          </p:cNvSpPr>
          <p:nvPr/>
        </p:nvSpPr>
        <p:spPr>
          <a:xfrm>
            <a:off x="7658100" y="2828925"/>
            <a:ext cx="39243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400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验证 + 本步修复</a:t>
            </a:r>
          </a:p>
        </p:txBody>
      </p:sp>
      <p:sp>
        <p:nvSpPr>
          <p:cNvPr id="13" name="t136">
            <a:extLst>
              <a:ext uri="{FF2B5EF4-FFF2-40B4-BE49-F238E27FC236}">
                <a16:creationId xmlns:a16="http://schemas.microsoft.com/office/drawing/2014/main" id="{89C35FE6-E3E6-483A-9325-F1EA438B13E4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4857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72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读取共享任务历史 Hₜ</a:t>
            </a:r>
          </a:p>
          <a:p>
            <a:pPr algn="l">
              <a:defRPr sz="172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ACCEPT 时执行车端提议</a:t>
            </a:r>
          </a:p>
        </p:txBody>
      </p:sp>
      <p:sp>
        <p:nvSpPr>
          <p:cNvPr id="14" name="t137">
            <a:extLst>
              <a:ext uri="{FF2B5EF4-FFF2-40B4-BE49-F238E27FC236}">
                <a16:creationId xmlns:a16="http://schemas.microsoft.com/office/drawing/2014/main" id="{6813FAB8-7368-445E-9626-F8751E7E4A11}"/>
              </a:ext>
            </a:extLst>
          </p:cNvPr>
          <p:cNvSpPr>
            <a:spLocks noGrp="1"/>
          </p:cNvSpPr>
          <p:nvPr/>
        </p:nvSpPr>
        <p:spPr>
          <a:xfrm>
            <a:off x="7658100" y="3448050"/>
            <a:ext cx="39243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每步判断 ACCEPT / REPAIR</a:t>
            </a:r>
          </a:p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REPAIR 时重新推理并发起工具调用</a:t>
            </a:r>
          </a:p>
        </p:txBody>
      </p:sp>
      <p:sp>
        <p:nvSpPr>
          <p:cNvPr id="15" name="a138">
            <a:extLst>
              <a:ext uri="{FF2B5EF4-FFF2-40B4-BE49-F238E27FC236}">
                <a16:creationId xmlns:a16="http://schemas.microsoft.com/office/drawing/2014/main" id="{E046A7AB-18B7-4888-8EE7-7CB012DE8D7C}"/>
              </a:ext>
            </a:extLst>
          </p:cNvPr>
          <p:cNvSpPr>
            <a:spLocks noGrp="1"/>
          </p:cNvSpPr>
          <p:nvPr/>
        </p:nvSpPr>
        <p:spPr>
          <a:xfrm>
            <a:off x="5810250" y="3276600"/>
            <a:ext cx="1485900" cy="142875"/>
          </a:xfrm>
          <a:prstGeom prst="rightArrow">
            <a:avLst/>
          </a:prstGeom>
          <a:solidFill>
            <a:srgbClr val="B7192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139">
            <a:extLst>
              <a:ext uri="{FF2B5EF4-FFF2-40B4-BE49-F238E27FC236}">
                <a16:creationId xmlns:a16="http://schemas.microsoft.com/office/drawing/2014/main" id="{0705C6E1-91CE-4A02-BC56-24F401D4AD23}"/>
              </a:ext>
            </a:extLst>
          </p:cNvPr>
          <p:cNvSpPr>
            <a:spLocks noGrp="1"/>
          </p:cNvSpPr>
          <p:nvPr/>
        </p:nvSpPr>
        <p:spPr>
          <a:xfrm>
            <a:off x="5876925" y="2971800"/>
            <a:ext cx="1524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3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候选 + Hₜ</a:t>
            </a:r>
          </a:p>
        </p:txBody>
      </p:sp>
      <p:sp>
        <p:nvSpPr>
          <p:cNvPr id="17" name="a140">
            <a:extLst>
              <a:ext uri="{FF2B5EF4-FFF2-40B4-BE49-F238E27FC236}">
                <a16:creationId xmlns:a16="http://schemas.microsoft.com/office/drawing/2014/main" id="{CBC06194-AF53-4A98-B3DC-015848206A34}"/>
              </a:ext>
            </a:extLst>
          </p:cNvPr>
          <p:cNvSpPr>
            <a:spLocks noGrp="1"/>
          </p:cNvSpPr>
          <p:nvPr/>
        </p:nvSpPr>
        <p:spPr>
          <a:xfrm>
            <a:off x="5810250" y="3905250"/>
            <a:ext cx="1485900" cy="142875"/>
          </a:xfrm>
          <a:prstGeom prst="leftArrow">
            <a:avLst/>
          </a:prstGeom>
          <a:solidFill>
            <a:srgbClr val="B7192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141">
            <a:extLst>
              <a:ext uri="{FF2B5EF4-FFF2-40B4-BE49-F238E27FC236}">
                <a16:creationId xmlns:a16="http://schemas.microsoft.com/office/drawing/2014/main" id="{9866EA9D-17B3-46FE-BB7B-58B581494C1C}"/>
              </a:ext>
            </a:extLst>
          </p:cNvPr>
          <p:cNvSpPr>
            <a:spLocks noGrp="1"/>
          </p:cNvSpPr>
          <p:nvPr/>
        </p:nvSpPr>
        <p:spPr>
          <a:xfrm>
            <a:off x="5876925" y="4114800"/>
            <a:ext cx="1524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3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验证结果</a:t>
            </a:r>
          </a:p>
        </p:txBody>
      </p:sp>
      <p:sp>
        <p:nvSpPr>
          <p:cNvPr id="19" name="a142">
            <a:extLst>
              <a:ext uri="{FF2B5EF4-FFF2-40B4-BE49-F238E27FC236}">
                <a16:creationId xmlns:a16="http://schemas.microsoft.com/office/drawing/2014/main" id="{C169E352-1594-4E06-AA42-236747466B6A}"/>
              </a:ext>
            </a:extLst>
          </p:cNvPr>
          <p:cNvSpPr>
            <a:spLocks noGrp="1"/>
          </p:cNvSpPr>
          <p:nvPr/>
        </p:nvSpPr>
        <p:spPr>
          <a:xfrm>
            <a:off x="2800350" y="4248150"/>
            <a:ext cx="142875" cy="314325"/>
          </a:xfrm>
          <a:prstGeom prst="downArrow">
            <a:avLst/>
          </a:prstGeom>
          <a:solidFill>
            <a:srgbClr val="1B1B1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a143">
            <a:extLst>
              <a:ext uri="{FF2B5EF4-FFF2-40B4-BE49-F238E27FC236}">
                <a16:creationId xmlns:a16="http://schemas.microsoft.com/office/drawing/2014/main" id="{F3185280-5BCE-4C49-A0D5-132648776601}"/>
              </a:ext>
            </a:extLst>
          </p:cNvPr>
          <p:cNvSpPr>
            <a:spLocks noGrp="1"/>
          </p:cNvSpPr>
          <p:nvPr/>
        </p:nvSpPr>
        <p:spPr>
          <a:xfrm>
            <a:off x="9372600" y="4248150"/>
            <a:ext cx="142875" cy="314325"/>
          </a:xfrm>
          <a:prstGeom prst="downArrow">
            <a:avLst/>
          </a:prstGeom>
          <a:solidFill>
            <a:srgbClr val="B7192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b144">
            <a:extLst>
              <a:ext uri="{FF2B5EF4-FFF2-40B4-BE49-F238E27FC236}">
                <a16:creationId xmlns:a16="http://schemas.microsoft.com/office/drawing/2014/main" id="{C0E4A532-7F1F-49A5-8540-5A6DB7EF4B70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10972800" cy="1038225"/>
          </a:xfrm>
          <a:prstGeom prst="rect">
            <a:avLst/>
          </a:prstGeom>
          <a:solidFill>
            <a:srgbClr val="F6F6F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l145">
            <a:extLst>
              <a:ext uri="{FF2B5EF4-FFF2-40B4-BE49-F238E27FC236}">
                <a16:creationId xmlns:a16="http://schemas.microsoft.com/office/drawing/2014/main" id="{CC2B3FEA-5D67-4E44-A89C-DF668D4511B2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146">
            <a:extLst>
              <a:ext uri="{FF2B5EF4-FFF2-40B4-BE49-F238E27FC236}">
                <a16:creationId xmlns:a16="http://schemas.microsoft.com/office/drawing/2014/main" id="{D8074615-D787-4039-9096-E64C0AB9DDFA}"/>
              </a:ext>
            </a:extLst>
          </p:cNvPr>
          <p:cNvSpPr>
            <a:spLocks noGrp="1"/>
          </p:cNvSpPr>
          <p:nvPr/>
        </p:nvSpPr>
        <p:spPr>
          <a:xfrm>
            <a:off x="781050" y="4829175"/>
            <a:ext cx="25431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共同工具环境</a:t>
            </a:r>
          </a:p>
        </p:txBody>
      </p:sp>
      <p:sp>
        <p:nvSpPr>
          <p:cNvPr id="24" name="t147">
            <a:extLst>
              <a:ext uri="{FF2B5EF4-FFF2-40B4-BE49-F238E27FC236}">
                <a16:creationId xmlns:a16="http://schemas.microsoft.com/office/drawing/2014/main" id="{AA8B8891-C31A-4968-AD38-0E40888C44F3}"/>
              </a:ext>
            </a:extLst>
          </p:cNvPr>
          <p:cNvSpPr>
            <a:spLocks noGrp="1"/>
          </p:cNvSpPr>
          <p:nvPr/>
        </p:nvSpPr>
        <p:spPr>
          <a:xfrm>
            <a:off x="3486150" y="4848225"/>
            <a:ext cx="78962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72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车载工具经车端接口执行，两条分支共用真实环境状态</a:t>
            </a:r>
          </a:p>
        </p:txBody>
      </p:sp>
      <p:sp>
        <p:nvSpPr>
          <p:cNvPr id="25" name="t148">
            <a:extLst>
              <a:ext uri="{FF2B5EF4-FFF2-40B4-BE49-F238E27FC236}">
                <a16:creationId xmlns:a16="http://schemas.microsoft.com/office/drawing/2014/main" id="{B65D1B4A-6541-446F-9537-2650015EE878}"/>
              </a:ext>
            </a:extLst>
          </p:cNvPr>
          <p:cNvSpPr>
            <a:spLocks noGrp="1"/>
          </p:cNvSpPr>
          <p:nvPr/>
        </p:nvSpPr>
        <p:spPr>
          <a:xfrm>
            <a:off x="781050" y="5334000"/>
            <a:ext cx="105537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57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实际动作与工具观察回写共享历史，下一步继续由车端提议</a:t>
            </a:r>
          </a:p>
        </p:txBody>
      </p:sp>
    </p:spTree>
    <p:extLst>
      <p:ext uri="{BB962C8B-B14F-4D97-AF65-F5344CB8AC3E}">
        <p14:creationId xmlns:p14="http://schemas.microsoft.com/office/powerpoint/2010/main" val="1262322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149">
            <a:extLst>
              <a:ext uri="{FF2B5EF4-FFF2-40B4-BE49-F238E27FC236}">
                <a16:creationId xmlns:a16="http://schemas.microsoft.com/office/drawing/2014/main" id="{2DCFC268-2F6E-458E-B31E-C0CEE4D6EA6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02  本发明技术方案</a:t>
            </a:r>
          </a:p>
        </p:txBody>
      </p:sp>
      <p:sp>
        <p:nvSpPr>
          <p:cNvPr id="2" name="t150">
            <a:extLst>
              <a:ext uri="{FF2B5EF4-FFF2-40B4-BE49-F238E27FC236}">
                <a16:creationId xmlns:a16="http://schemas.microsoft.com/office/drawing/2014/main" id="{24BF1322-9288-47B0-8C77-A4BD24E3E0D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ACCEPT / REPAIR 的单步协作闭环</a:t>
            </a:r>
          </a:p>
        </p:txBody>
      </p:sp>
      <p:sp>
        <p:nvSpPr>
          <p:cNvPr id="3" name="t151">
            <a:extLst>
              <a:ext uri="{FF2B5EF4-FFF2-40B4-BE49-F238E27FC236}">
                <a16:creationId xmlns:a16="http://schemas.microsoft.com/office/drawing/2014/main" id="{44EB5B6C-A7B8-43B2-B8BC-B3169ED74988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两条分支只执行一次实际工具调用，共用同一环境与反馈历史。</a:t>
            </a:r>
          </a:p>
        </p:txBody>
      </p:sp>
      <p:sp>
        <p:nvSpPr>
          <p:cNvPr id="4" name="l152">
            <a:extLst>
              <a:ext uri="{FF2B5EF4-FFF2-40B4-BE49-F238E27FC236}">
                <a16:creationId xmlns:a16="http://schemas.microsoft.com/office/drawing/2014/main" id="{DBEA14A5-3B61-46B9-856D-E59B8C6B2A5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153">
            <a:extLst>
              <a:ext uri="{FF2B5EF4-FFF2-40B4-BE49-F238E27FC236}">
                <a16:creationId xmlns:a16="http://schemas.microsoft.com/office/drawing/2014/main" id="{5D9051C6-8746-430A-95E1-1A346B401E58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154">
            <a:extLst>
              <a:ext uri="{FF2B5EF4-FFF2-40B4-BE49-F238E27FC236}">
                <a16:creationId xmlns:a16="http://schemas.microsoft.com/office/drawing/2014/main" id="{CEA1EADF-ED20-46E2-B0B2-DDE454DFE5C0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" name="b155">
            <a:extLst>
              <a:ext uri="{FF2B5EF4-FFF2-40B4-BE49-F238E27FC236}">
                <a16:creationId xmlns:a16="http://schemas.microsoft.com/office/drawing/2014/main" id="{208073CA-D8A7-4BA1-85BE-3EE14E8E7907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3276600" cy="781050"/>
          </a:xfrm>
          <a:prstGeom prst="rect">
            <a:avLst/>
          </a:prstGeom>
          <a:solidFill>
            <a:srgbClr val="F6F6F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156">
            <a:extLst>
              <a:ext uri="{FF2B5EF4-FFF2-40B4-BE49-F238E27FC236}">
                <a16:creationId xmlns:a16="http://schemas.microsoft.com/office/drawing/2014/main" id="{5EC17320-05B3-4722-A4E1-CF4C6B2F214F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2971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车端提出本步工具调用</a:t>
            </a:r>
          </a:p>
        </p:txBody>
      </p:sp>
      <p:sp>
        <p:nvSpPr>
          <p:cNvPr id="9" name="t157">
            <a:extLst>
              <a:ext uri="{FF2B5EF4-FFF2-40B4-BE49-F238E27FC236}">
                <a16:creationId xmlns:a16="http://schemas.microsoft.com/office/drawing/2014/main" id="{8593697C-DF0C-4FF4-8C5E-E3365CCE9559}"/>
              </a:ext>
            </a:extLst>
          </p:cNvPr>
          <p:cNvSpPr>
            <a:spLocks noGrp="1"/>
          </p:cNvSpPr>
          <p:nvPr/>
        </p:nvSpPr>
        <p:spPr>
          <a:xfrm>
            <a:off x="762000" y="2486025"/>
            <a:ext cx="2971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aₜˢ 暂不执行</a:t>
            </a:r>
          </a:p>
        </p:txBody>
      </p:sp>
      <p:sp>
        <p:nvSpPr>
          <p:cNvPr id="10" name="a158">
            <a:extLst>
              <a:ext uri="{FF2B5EF4-FFF2-40B4-BE49-F238E27FC236}">
                <a16:creationId xmlns:a16="http://schemas.microsoft.com/office/drawing/2014/main" id="{97D43EB6-09EE-4F80-84D5-CFF8A74BAFA3}"/>
              </a:ext>
            </a:extLst>
          </p:cNvPr>
          <p:cNvSpPr>
            <a:spLocks noGrp="1"/>
          </p:cNvSpPr>
          <p:nvPr/>
        </p:nvSpPr>
        <p:spPr>
          <a:xfrm>
            <a:off x="4067175" y="2362200"/>
            <a:ext cx="571500" cy="142875"/>
          </a:xfrm>
          <a:prstGeom prst="rightArrow">
            <a:avLst/>
          </a:prstGeom>
          <a:solidFill>
            <a:srgbClr val="B7192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b159">
            <a:extLst>
              <a:ext uri="{FF2B5EF4-FFF2-40B4-BE49-F238E27FC236}">
                <a16:creationId xmlns:a16="http://schemas.microsoft.com/office/drawing/2014/main" id="{1985F9F4-C5AE-4485-BF83-B26C3D44F7E9}"/>
              </a:ext>
            </a:extLst>
          </p:cNvPr>
          <p:cNvSpPr>
            <a:spLocks noGrp="1"/>
          </p:cNvSpPr>
          <p:nvPr/>
        </p:nvSpPr>
        <p:spPr>
          <a:xfrm>
            <a:off x="4857750" y="2047875"/>
            <a:ext cx="2876550" cy="781050"/>
          </a:xfrm>
          <a:prstGeom prst="rect">
            <a:avLst/>
          </a:prstGeom>
          <a:solidFill>
            <a:srgbClr val="FAECEE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160">
            <a:extLst>
              <a:ext uri="{FF2B5EF4-FFF2-40B4-BE49-F238E27FC236}">
                <a16:creationId xmlns:a16="http://schemas.microsoft.com/office/drawing/2014/main" id="{4C98A6E3-BD07-4D0B-851C-703CA77E0C1C}"/>
              </a:ext>
            </a:extLst>
          </p:cNvPr>
          <p:cNvSpPr>
            <a:spLocks noGrp="1"/>
          </p:cNvSpPr>
          <p:nvPr/>
        </p:nvSpPr>
        <p:spPr>
          <a:xfrm>
            <a:off x="5010150" y="2133600"/>
            <a:ext cx="2571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0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云端单步验证</a:t>
            </a:r>
          </a:p>
        </p:txBody>
      </p:sp>
      <p:sp>
        <p:nvSpPr>
          <p:cNvPr id="13" name="t161">
            <a:extLst>
              <a:ext uri="{FF2B5EF4-FFF2-40B4-BE49-F238E27FC236}">
                <a16:creationId xmlns:a16="http://schemas.microsoft.com/office/drawing/2014/main" id="{2D7FEDA7-AA6C-48BA-8D0C-0413B522C7EA}"/>
              </a:ext>
            </a:extLst>
          </p:cNvPr>
          <p:cNvSpPr>
            <a:spLocks noGrp="1"/>
          </p:cNvSpPr>
          <p:nvPr/>
        </p:nvSpPr>
        <p:spPr>
          <a:xfrm>
            <a:off x="5010150" y="2486025"/>
            <a:ext cx="257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依据共享历史 Hₜ 判断</a:t>
            </a:r>
          </a:p>
        </p:txBody>
      </p:sp>
      <p:sp>
        <p:nvSpPr>
          <p:cNvPr id="14" name="l162">
            <a:extLst>
              <a:ext uri="{FF2B5EF4-FFF2-40B4-BE49-F238E27FC236}">
                <a16:creationId xmlns:a16="http://schemas.microsoft.com/office/drawing/2014/main" id="{7656BFA6-6D3D-40EA-932E-37C6892767E8}"/>
              </a:ext>
            </a:extLst>
          </p:cNvPr>
          <p:cNvSpPr>
            <a:spLocks noGrp="1"/>
          </p:cNvSpPr>
          <p:nvPr/>
        </p:nvSpPr>
        <p:spPr>
          <a:xfrm>
            <a:off x="6296025" y="2828925"/>
            <a:ext cx="0" cy="257175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l163">
            <a:extLst>
              <a:ext uri="{FF2B5EF4-FFF2-40B4-BE49-F238E27FC236}">
                <a16:creationId xmlns:a16="http://schemas.microsoft.com/office/drawing/2014/main" id="{AF8ECC0B-F6F1-4F9E-BC29-EF48AA7B5A03}"/>
              </a:ext>
            </a:extLst>
          </p:cNvPr>
          <p:cNvSpPr>
            <a:spLocks noGrp="1"/>
          </p:cNvSpPr>
          <p:nvPr/>
        </p:nvSpPr>
        <p:spPr>
          <a:xfrm>
            <a:off x="2686050" y="3086100"/>
            <a:ext cx="657225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a164">
            <a:extLst>
              <a:ext uri="{FF2B5EF4-FFF2-40B4-BE49-F238E27FC236}">
                <a16:creationId xmlns:a16="http://schemas.microsoft.com/office/drawing/2014/main" id="{0037219D-B82C-46BC-9557-044EC59D6F1A}"/>
              </a:ext>
            </a:extLst>
          </p:cNvPr>
          <p:cNvSpPr>
            <a:spLocks noGrp="1"/>
          </p:cNvSpPr>
          <p:nvPr/>
        </p:nvSpPr>
        <p:spPr>
          <a:xfrm>
            <a:off x="2609850" y="3086100"/>
            <a:ext cx="142875" cy="209550"/>
          </a:xfrm>
          <a:prstGeom prst="downArrow">
            <a:avLst/>
          </a:prstGeom>
          <a:solidFill>
            <a:srgbClr val="1B1B1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a165">
            <a:extLst>
              <a:ext uri="{FF2B5EF4-FFF2-40B4-BE49-F238E27FC236}">
                <a16:creationId xmlns:a16="http://schemas.microsoft.com/office/drawing/2014/main" id="{0F5CD4C6-00AA-481B-BD5C-308B992E9400}"/>
              </a:ext>
            </a:extLst>
          </p:cNvPr>
          <p:cNvSpPr>
            <a:spLocks noGrp="1"/>
          </p:cNvSpPr>
          <p:nvPr/>
        </p:nvSpPr>
        <p:spPr>
          <a:xfrm>
            <a:off x="9182100" y="3086100"/>
            <a:ext cx="142875" cy="209550"/>
          </a:xfrm>
          <a:prstGeom prst="downArrow">
            <a:avLst/>
          </a:prstGeom>
          <a:solidFill>
            <a:srgbClr val="B7192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166">
            <a:extLst>
              <a:ext uri="{FF2B5EF4-FFF2-40B4-BE49-F238E27FC236}">
                <a16:creationId xmlns:a16="http://schemas.microsoft.com/office/drawing/2014/main" id="{A19A3309-7348-4000-A266-835238A95846}"/>
              </a:ext>
            </a:extLst>
          </p:cNvPr>
          <p:cNvSpPr>
            <a:spLocks noGrp="1"/>
          </p:cNvSpPr>
          <p:nvPr/>
        </p:nvSpPr>
        <p:spPr>
          <a:xfrm>
            <a:off x="609600" y="3400425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0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ACCEPT</a:t>
            </a:r>
          </a:p>
        </p:txBody>
      </p:sp>
      <p:sp>
        <p:nvSpPr>
          <p:cNvPr id="19" name="t167">
            <a:extLst>
              <a:ext uri="{FF2B5EF4-FFF2-40B4-BE49-F238E27FC236}">
                <a16:creationId xmlns:a16="http://schemas.microsoft.com/office/drawing/2014/main" id="{36100495-F7DA-45AF-BF89-BF216F9DDE1A}"/>
              </a:ext>
            </a:extLst>
          </p:cNvPr>
          <p:cNvSpPr>
            <a:spLocks noGrp="1"/>
          </p:cNvSpPr>
          <p:nvPr/>
        </p:nvSpPr>
        <p:spPr>
          <a:xfrm>
            <a:off x="6191250" y="3400425"/>
            <a:ext cx="5391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REPAIR</a:t>
            </a:r>
          </a:p>
        </p:txBody>
      </p:sp>
      <p:sp>
        <p:nvSpPr>
          <p:cNvPr id="20" name="t168">
            <a:extLst>
              <a:ext uri="{FF2B5EF4-FFF2-40B4-BE49-F238E27FC236}">
                <a16:creationId xmlns:a16="http://schemas.microsoft.com/office/drawing/2014/main" id="{F638B29C-EE44-454B-943D-F016558B116C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执行车端提议 aₜˢ</a:t>
            </a:r>
          </a:p>
        </p:txBody>
      </p:sp>
      <p:sp>
        <p:nvSpPr>
          <p:cNvPr id="21" name="t169">
            <a:extLst>
              <a:ext uri="{FF2B5EF4-FFF2-40B4-BE49-F238E27FC236}">
                <a16:creationId xmlns:a16="http://schemas.microsoft.com/office/drawing/2014/main" id="{9D51F0D3-7318-488C-928C-32A23F6EDBF8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5391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7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云端重新推理并发起本步调用 aₜᶜ</a:t>
            </a:r>
          </a:p>
        </p:txBody>
      </p:sp>
      <p:sp>
        <p:nvSpPr>
          <p:cNvPr id="22" name="l170">
            <a:extLst>
              <a:ext uri="{FF2B5EF4-FFF2-40B4-BE49-F238E27FC236}">
                <a16:creationId xmlns:a16="http://schemas.microsoft.com/office/drawing/2014/main" id="{FBEC08E3-A4CF-4978-98B2-6D888FE8FA1E}"/>
              </a:ext>
            </a:extLst>
          </p:cNvPr>
          <p:cNvSpPr>
            <a:spLocks noGrp="1"/>
          </p:cNvSpPr>
          <p:nvPr/>
        </p:nvSpPr>
        <p:spPr>
          <a:xfrm>
            <a:off x="2686050" y="4210050"/>
            <a:ext cx="0" cy="257175"/>
          </a:xfrm>
          <a:prstGeom prst="line">
            <a:avLst/>
          </a:prstGeom>
          <a:noFill/>
          <a:ln w="19050">
            <a:solidFill>
              <a:srgbClr val="1B1B1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a171">
            <a:extLst>
              <a:ext uri="{FF2B5EF4-FFF2-40B4-BE49-F238E27FC236}">
                <a16:creationId xmlns:a16="http://schemas.microsoft.com/office/drawing/2014/main" id="{4CB831A1-C987-4E04-BA40-38AAEBA0179D}"/>
              </a:ext>
            </a:extLst>
          </p:cNvPr>
          <p:cNvSpPr>
            <a:spLocks noGrp="1"/>
          </p:cNvSpPr>
          <p:nvPr/>
        </p:nvSpPr>
        <p:spPr>
          <a:xfrm>
            <a:off x="2609850" y="4400550"/>
            <a:ext cx="142875" cy="171450"/>
          </a:xfrm>
          <a:prstGeom prst="downArrow">
            <a:avLst/>
          </a:prstGeom>
          <a:solidFill>
            <a:srgbClr val="1B1B1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l172">
            <a:extLst>
              <a:ext uri="{FF2B5EF4-FFF2-40B4-BE49-F238E27FC236}">
                <a16:creationId xmlns:a16="http://schemas.microsoft.com/office/drawing/2014/main" id="{1B39F40F-5C0F-4D4A-AFD9-844EFC87EE6B}"/>
              </a:ext>
            </a:extLst>
          </p:cNvPr>
          <p:cNvSpPr>
            <a:spLocks noGrp="1"/>
          </p:cNvSpPr>
          <p:nvPr/>
        </p:nvSpPr>
        <p:spPr>
          <a:xfrm>
            <a:off x="9258300" y="4210050"/>
            <a:ext cx="0" cy="257175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a173">
            <a:extLst>
              <a:ext uri="{FF2B5EF4-FFF2-40B4-BE49-F238E27FC236}">
                <a16:creationId xmlns:a16="http://schemas.microsoft.com/office/drawing/2014/main" id="{5E7A6205-1DBA-4D3D-824A-0F82F016F7FF}"/>
              </a:ext>
            </a:extLst>
          </p:cNvPr>
          <p:cNvSpPr>
            <a:spLocks noGrp="1"/>
          </p:cNvSpPr>
          <p:nvPr/>
        </p:nvSpPr>
        <p:spPr>
          <a:xfrm>
            <a:off x="9182100" y="4400550"/>
            <a:ext cx="142875" cy="171450"/>
          </a:xfrm>
          <a:prstGeom prst="downArrow">
            <a:avLst/>
          </a:prstGeom>
          <a:solidFill>
            <a:srgbClr val="B7192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b174">
            <a:extLst>
              <a:ext uri="{FF2B5EF4-FFF2-40B4-BE49-F238E27FC236}">
                <a16:creationId xmlns:a16="http://schemas.microsoft.com/office/drawing/2014/main" id="{350A196A-A58F-439A-96D6-FFDF75EF0EAD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10972800" cy="676275"/>
          </a:xfrm>
          <a:prstGeom prst="rect">
            <a:avLst/>
          </a:prstGeom>
          <a:solidFill>
            <a:srgbClr val="F6F6F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l175">
            <a:extLst>
              <a:ext uri="{FF2B5EF4-FFF2-40B4-BE49-F238E27FC236}">
                <a16:creationId xmlns:a16="http://schemas.microsoft.com/office/drawing/2014/main" id="{9136EF32-88BB-4C93-9654-14ABCE646289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176">
            <a:extLst>
              <a:ext uri="{FF2B5EF4-FFF2-40B4-BE49-F238E27FC236}">
                <a16:creationId xmlns:a16="http://schemas.microsoft.com/office/drawing/2014/main" id="{F0EF7355-5025-42BE-85C1-8E7CA7DB0346}"/>
              </a:ext>
            </a:extLst>
          </p:cNvPr>
          <p:cNvSpPr>
            <a:spLocks noGrp="1"/>
          </p:cNvSpPr>
          <p:nvPr/>
        </p:nvSpPr>
        <p:spPr>
          <a:xfrm>
            <a:off x="781050" y="4695825"/>
            <a:ext cx="2590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同一工具环境</a:t>
            </a:r>
          </a:p>
        </p:txBody>
      </p:sp>
      <p:sp>
        <p:nvSpPr>
          <p:cNvPr id="29" name="t177">
            <a:extLst>
              <a:ext uri="{FF2B5EF4-FFF2-40B4-BE49-F238E27FC236}">
                <a16:creationId xmlns:a16="http://schemas.microsoft.com/office/drawing/2014/main" id="{BD8811A0-7761-4192-AFD9-1D10D3250166}"/>
              </a:ext>
            </a:extLst>
          </p:cNvPr>
          <p:cNvSpPr>
            <a:spLocks noGrp="1"/>
          </p:cNvSpPr>
          <p:nvPr/>
        </p:nvSpPr>
        <p:spPr>
          <a:xfrm>
            <a:off x="3571875" y="4714875"/>
            <a:ext cx="78295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72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车载工具统一经车端接口执行，并返回真实观察 oₜ</a:t>
            </a:r>
          </a:p>
        </p:txBody>
      </p:sp>
      <p:sp>
        <p:nvSpPr>
          <p:cNvPr id="30" name="l178">
            <a:extLst>
              <a:ext uri="{FF2B5EF4-FFF2-40B4-BE49-F238E27FC236}">
                <a16:creationId xmlns:a16="http://schemas.microsoft.com/office/drawing/2014/main" id="{F3AE0983-88FE-49D0-932B-E90DEF8896CB}"/>
              </a:ext>
            </a:extLst>
          </p:cNvPr>
          <p:cNvSpPr>
            <a:spLocks noGrp="1"/>
          </p:cNvSpPr>
          <p:nvPr/>
        </p:nvSpPr>
        <p:spPr>
          <a:xfrm>
            <a:off x="381000" y="4933950"/>
            <a:ext cx="2286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l179">
            <a:extLst>
              <a:ext uri="{FF2B5EF4-FFF2-40B4-BE49-F238E27FC236}">
                <a16:creationId xmlns:a16="http://schemas.microsoft.com/office/drawing/2014/main" id="{D9EA3E8C-647A-4690-B9F7-61ADC5CB0B3B}"/>
              </a:ext>
            </a:extLst>
          </p:cNvPr>
          <p:cNvSpPr>
            <a:spLocks noGrp="1"/>
          </p:cNvSpPr>
          <p:nvPr/>
        </p:nvSpPr>
        <p:spPr>
          <a:xfrm>
            <a:off x="381000" y="2438400"/>
            <a:ext cx="0" cy="249555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a180">
            <a:extLst>
              <a:ext uri="{FF2B5EF4-FFF2-40B4-BE49-F238E27FC236}">
                <a16:creationId xmlns:a16="http://schemas.microsoft.com/office/drawing/2014/main" id="{C82D8A00-F6A6-42E8-907C-E8A07958AC5E}"/>
              </a:ext>
            </a:extLst>
          </p:cNvPr>
          <p:cNvSpPr>
            <a:spLocks noGrp="1"/>
          </p:cNvSpPr>
          <p:nvPr/>
        </p:nvSpPr>
        <p:spPr>
          <a:xfrm>
            <a:off x="381000" y="2371725"/>
            <a:ext cx="228600" cy="142875"/>
          </a:xfrm>
          <a:prstGeom prst="rightArrow">
            <a:avLst/>
          </a:prstGeom>
          <a:solidFill>
            <a:srgbClr val="B7192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181">
            <a:extLst>
              <a:ext uri="{FF2B5EF4-FFF2-40B4-BE49-F238E27FC236}">
                <a16:creationId xmlns:a16="http://schemas.microsoft.com/office/drawing/2014/main" id="{E1098870-6B33-48E1-874A-138DCB149D8D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7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真实观察写入 Hₜ₊₁，下一步继续由车端提议</a:t>
            </a:r>
          </a:p>
        </p:txBody>
      </p:sp>
    </p:spTree>
    <p:extLst>
      <p:ext uri="{BB962C8B-B14F-4D97-AF65-F5344CB8AC3E}">
        <p14:creationId xmlns:p14="http://schemas.microsoft.com/office/powerpoint/2010/main" val="163889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82">
            <a:extLst>
              <a:ext uri="{FF2B5EF4-FFF2-40B4-BE49-F238E27FC236}">
                <a16:creationId xmlns:a16="http://schemas.microsoft.com/office/drawing/2014/main" id="{FD6296F3-56A5-4038-8620-4196CEBCDF4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02  本发明技术方案</a:t>
            </a:r>
          </a:p>
        </p:txBody>
      </p:sp>
      <p:sp>
        <p:nvSpPr>
          <p:cNvPr id="2" name="t183">
            <a:extLst>
              <a:ext uri="{FF2B5EF4-FFF2-40B4-BE49-F238E27FC236}">
                <a16:creationId xmlns:a16="http://schemas.microsoft.com/office/drawing/2014/main" id="{4E0FE5DA-88EB-4AF8-933C-C81FD37C18B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单步协作的信息与记录</a:t>
            </a:r>
          </a:p>
        </p:txBody>
      </p:sp>
      <p:sp>
        <p:nvSpPr>
          <p:cNvPr id="3" name="t184">
            <a:extLst>
              <a:ext uri="{FF2B5EF4-FFF2-40B4-BE49-F238E27FC236}">
                <a16:creationId xmlns:a16="http://schemas.microsoft.com/office/drawing/2014/main" id="{09CEED03-22F8-488C-B4C2-7BB95B288AD3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每一步关联同一任务历史、验证结果和真实执行记录。</a:t>
            </a:r>
          </a:p>
        </p:txBody>
      </p:sp>
      <p:sp>
        <p:nvSpPr>
          <p:cNvPr id="4" name="l185">
            <a:extLst>
              <a:ext uri="{FF2B5EF4-FFF2-40B4-BE49-F238E27FC236}">
                <a16:creationId xmlns:a16="http://schemas.microsoft.com/office/drawing/2014/main" id="{29C83893-CBEE-4471-A435-86DCA6C5F0A3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186">
            <a:extLst>
              <a:ext uri="{FF2B5EF4-FFF2-40B4-BE49-F238E27FC236}">
                <a16:creationId xmlns:a16="http://schemas.microsoft.com/office/drawing/2014/main" id="{9F8CF385-D3DC-4E8A-BEB3-522AB8D97B2B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187">
            <a:extLst>
              <a:ext uri="{FF2B5EF4-FFF2-40B4-BE49-F238E27FC236}">
                <a16:creationId xmlns:a16="http://schemas.microsoft.com/office/drawing/2014/main" id="{565A39F6-561B-4081-97CF-30C0838EA07B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AE41645-1AAC-47BF-989D-69A361A9EA20}"/>
              </a:ext>
            </a:extLst>
          </p:cNvPr>
          <p:cNvGraphicFramePr/>
          <p:nvPr/>
        </p:nvGraphicFramePr>
        <p:xfrm>
          <a:off x="609600" y="2124075"/>
          <a:ext cx="10972800" cy="3333750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消息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主要字段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用途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本步请求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任务/步骤标识；共享历史 Hₜ；环境状态；车端候选调用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限定本步验证对象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 ACCEPT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通过结果；对应车端候选调用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执行车端提议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修复 REPAIR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接管结果；云端本步推理生成的工具调用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云端接管本步调用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真实执行记录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实际调用方；执行动作；工具返回 oₜ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更新共享历史 Hₜ₊₁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l188">
            <a:extLst>
              <a:ext uri="{FF2B5EF4-FFF2-40B4-BE49-F238E27FC236}">
                <a16:creationId xmlns:a16="http://schemas.microsoft.com/office/drawing/2014/main" id="{C3A5A646-A78B-4A4D-A363-4E3C31F802E4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10972800" cy="0"/>
          </a:xfrm>
          <a:prstGeom prst="line">
            <a:avLst/>
          </a:prstGeom>
          <a:noFill/>
          <a:ln w="28575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l189">
            <a:extLst>
              <a:ext uri="{FF2B5EF4-FFF2-40B4-BE49-F238E27FC236}">
                <a16:creationId xmlns:a16="http://schemas.microsoft.com/office/drawing/2014/main" id="{9C1E0CB6-813C-4F11-AF26-8C957EED830D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190">
            <a:extLst>
              <a:ext uri="{FF2B5EF4-FFF2-40B4-BE49-F238E27FC236}">
                <a16:creationId xmlns:a16="http://schemas.microsoft.com/office/drawing/2014/main" id="{F7AB8E3C-7D37-48E1-9232-407AC0801EC1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REPAIR 记录云端接管当前一步；两端不各自维护一份独立执行环境。</a:t>
            </a:r>
          </a:p>
        </p:txBody>
      </p:sp>
    </p:spTree>
    <p:extLst>
      <p:ext uri="{BB962C8B-B14F-4D97-AF65-F5344CB8AC3E}">
        <p14:creationId xmlns:p14="http://schemas.microsoft.com/office/powerpoint/2010/main" val="734173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191">
            <a:extLst>
              <a:ext uri="{FF2B5EF4-FFF2-40B4-BE49-F238E27FC236}">
                <a16:creationId xmlns:a16="http://schemas.microsoft.com/office/drawing/2014/main" id="{570E92F1-13B0-4202-94A6-F9BD922D5E4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02  本发明技术方案</a:t>
            </a:r>
          </a:p>
        </p:txBody>
      </p:sp>
      <p:sp>
        <p:nvSpPr>
          <p:cNvPr id="2" name="t192">
            <a:extLst>
              <a:ext uri="{FF2B5EF4-FFF2-40B4-BE49-F238E27FC236}">
                <a16:creationId xmlns:a16="http://schemas.microsoft.com/office/drawing/2014/main" id="{85393992-3ADC-4EBE-89FE-368F3DD75534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模型分支与共同工具接口的分工</a:t>
            </a:r>
          </a:p>
        </p:txBody>
      </p:sp>
      <p:sp>
        <p:nvSpPr>
          <p:cNvPr id="3" name="t193">
            <a:extLst>
              <a:ext uri="{FF2B5EF4-FFF2-40B4-BE49-F238E27FC236}">
                <a16:creationId xmlns:a16="http://schemas.microsoft.com/office/drawing/2014/main" id="{16B43803-9B21-4F97-89EA-578EED56CD66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ACCEPT / REPAIR 决定谁完成本步，工具接口决定调用如何落地。</a:t>
            </a:r>
          </a:p>
        </p:txBody>
      </p:sp>
      <p:sp>
        <p:nvSpPr>
          <p:cNvPr id="4" name="l194">
            <a:extLst>
              <a:ext uri="{FF2B5EF4-FFF2-40B4-BE49-F238E27FC236}">
                <a16:creationId xmlns:a16="http://schemas.microsoft.com/office/drawing/2014/main" id="{92876DA7-DDBE-4AB7-BB09-99926EF6FD8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195">
            <a:extLst>
              <a:ext uri="{FF2B5EF4-FFF2-40B4-BE49-F238E27FC236}">
                <a16:creationId xmlns:a16="http://schemas.microsoft.com/office/drawing/2014/main" id="{3711B8F6-AAF6-49D4-A3F7-32132C5034FB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196">
            <a:extLst>
              <a:ext uri="{FF2B5EF4-FFF2-40B4-BE49-F238E27FC236}">
                <a16:creationId xmlns:a16="http://schemas.microsoft.com/office/drawing/2014/main" id="{4730792D-FFA2-4D4E-B023-ED4F0D76E844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7" name="l197">
            <a:extLst>
              <a:ext uri="{FF2B5EF4-FFF2-40B4-BE49-F238E27FC236}">
                <a16:creationId xmlns:a16="http://schemas.microsoft.com/office/drawing/2014/main" id="{820D58F6-9BC4-45D9-AE4F-1F0CB1647A3B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5019675" cy="0"/>
          </a:xfrm>
          <a:prstGeom prst="line">
            <a:avLst/>
          </a:prstGeom>
          <a:noFill/>
          <a:ln w="3810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l198">
            <a:extLst>
              <a:ext uri="{FF2B5EF4-FFF2-40B4-BE49-F238E27FC236}">
                <a16:creationId xmlns:a16="http://schemas.microsoft.com/office/drawing/2014/main" id="{0A03D9D8-CC94-4805-B125-53FA7D8E7AB3}"/>
              </a:ext>
            </a:extLst>
          </p:cNvPr>
          <p:cNvSpPr>
            <a:spLocks noGrp="1"/>
          </p:cNvSpPr>
          <p:nvPr/>
        </p:nvSpPr>
        <p:spPr>
          <a:xfrm>
            <a:off x="6562725" y="2152650"/>
            <a:ext cx="5019675" cy="0"/>
          </a:xfrm>
          <a:prstGeom prst="line">
            <a:avLst/>
          </a:prstGeom>
          <a:noFill/>
          <a:ln w="38100">
            <a:solidFill>
              <a:srgbClr val="1B1B1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199">
            <a:extLst>
              <a:ext uri="{FF2B5EF4-FFF2-40B4-BE49-F238E27FC236}">
                <a16:creationId xmlns:a16="http://schemas.microsoft.com/office/drawing/2014/main" id="{C4EEC7F9-3D53-4E23-B262-2B10A048913A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50196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25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模型分支</a:t>
            </a:r>
          </a:p>
        </p:txBody>
      </p:sp>
      <p:sp>
        <p:nvSpPr>
          <p:cNvPr id="10" name="t200">
            <a:extLst>
              <a:ext uri="{FF2B5EF4-FFF2-40B4-BE49-F238E27FC236}">
                <a16:creationId xmlns:a16="http://schemas.microsoft.com/office/drawing/2014/main" id="{4AA8516D-AA24-4483-B0FB-361303926B01}"/>
              </a:ext>
            </a:extLst>
          </p:cNvPr>
          <p:cNvSpPr>
            <a:spLocks noGrp="1"/>
          </p:cNvSpPr>
          <p:nvPr/>
        </p:nvSpPr>
        <p:spPr>
          <a:xfrm>
            <a:off x="6562725" y="2362200"/>
            <a:ext cx="50196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共同工具环境</a:t>
            </a:r>
          </a:p>
        </p:txBody>
      </p:sp>
      <p:sp>
        <p:nvSpPr>
          <p:cNvPr id="11" name="t201">
            <a:extLst>
              <a:ext uri="{FF2B5EF4-FFF2-40B4-BE49-F238E27FC236}">
                <a16:creationId xmlns:a16="http://schemas.microsoft.com/office/drawing/2014/main" id="{84341E4D-24DF-4A50-B52F-FC59341B4BE4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50196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ACCEPT 沿用车端提议</a:t>
            </a:r>
          </a:p>
        </p:txBody>
      </p:sp>
      <p:sp>
        <p:nvSpPr>
          <p:cNvPr id="12" name="t202">
            <a:extLst>
              <a:ext uri="{FF2B5EF4-FFF2-40B4-BE49-F238E27FC236}">
                <a16:creationId xmlns:a16="http://schemas.microsoft.com/office/drawing/2014/main" id="{BB8C61C4-4826-41F8-99F0-6F2C67CA703D}"/>
              </a:ext>
            </a:extLst>
          </p:cNvPr>
          <p:cNvSpPr>
            <a:spLocks noGrp="1"/>
          </p:cNvSpPr>
          <p:nvPr/>
        </p:nvSpPr>
        <p:spPr>
          <a:xfrm>
            <a:off x="6562725" y="2990850"/>
            <a:ext cx="50196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车载工具经车端接口执行</a:t>
            </a:r>
          </a:p>
        </p:txBody>
      </p:sp>
      <p:sp>
        <p:nvSpPr>
          <p:cNvPr id="13" name="t203">
            <a:extLst>
              <a:ext uri="{FF2B5EF4-FFF2-40B4-BE49-F238E27FC236}">
                <a16:creationId xmlns:a16="http://schemas.microsoft.com/office/drawing/2014/main" id="{BE2944A8-70DA-4631-A632-8BC5C8B0B959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50196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REPAIR 云端推理并发起调用</a:t>
            </a:r>
          </a:p>
        </p:txBody>
      </p:sp>
      <p:sp>
        <p:nvSpPr>
          <p:cNvPr id="14" name="t204">
            <a:extLst>
              <a:ext uri="{FF2B5EF4-FFF2-40B4-BE49-F238E27FC236}">
                <a16:creationId xmlns:a16="http://schemas.microsoft.com/office/drawing/2014/main" id="{2537D874-AAA9-47E9-9633-939BA55302EE}"/>
              </a:ext>
            </a:extLst>
          </p:cNvPr>
          <p:cNvSpPr>
            <a:spLocks noGrp="1"/>
          </p:cNvSpPr>
          <p:nvPr/>
        </p:nvSpPr>
        <p:spPr>
          <a:xfrm>
            <a:off x="6562725" y="3581400"/>
            <a:ext cx="50196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检查权限、参数与车辆状态</a:t>
            </a:r>
          </a:p>
        </p:txBody>
      </p:sp>
      <p:sp>
        <p:nvSpPr>
          <p:cNvPr id="15" name="t205">
            <a:extLst>
              <a:ext uri="{FF2B5EF4-FFF2-40B4-BE49-F238E27FC236}">
                <a16:creationId xmlns:a16="http://schemas.microsoft.com/office/drawing/2014/main" id="{286662BC-08B2-4A52-B398-CEA934951AD3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50196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真实结果回写共享历史</a:t>
            </a:r>
          </a:p>
        </p:txBody>
      </p:sp>
      <p:sp>
        <p:nvSpPr>
          <p:cNvPr id="16" name="t206">
            <a:extLst>
              <a:ext uri="{FF2B5EF4-FFF2-40B4-BE49-F238E27FC236}">
                <a16:creationId xmlns:a16="http://schemas.microsoft.com/office/drawing/2014/main" id="{13D6C232-8B43-4E68-83DB-24D482318C4F}"/>
              </a:ext>
            </a:extLst>
          </p:cNvPr>
          <p:cNvSpPr>
            <a:spLocks noGrp="1"/>
          </p:cNvSpPr>
          <p:nvPr/>
        </p:nvSpPr>
        <p:spPr>
          <a:xfrm>
            <a:off x="6562725" y="4171950"/>
            <a:ext cx="50196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两端读取同一实际执行结果</a:t>
            </a:r>
          </a:p>
        </p:txBody>
      </p:sp>
      <p:sp>
        <p:nvSpPr>
          <p:cNvPr id="17" name="l207">
            <a:extLst>
              <a:ext uri="{FF2B5EF4-FFF2-40B4-BE49-F238E27FC236}">
                <a16:creationId xmlns:a16="http://schemas.microsoft.com/office/drawing/2014/main" id="{4FF86376-7F84-4442-8EF5-3AA4A8DB8B6D}"/>
              </a:ext>
            </a:extLst>
          </p:cNvPr>
          <p:cNvSpPr>
            <a:spLocks noGrp="1"/>
          </p:cNvSpPr>
          <p:nvPr/>
        </p:nvSpPr>
        <p:spPr>
          <a:xfrm>
            <a:off x="6096000" y="2200275"/>
            <a:ext cx="0" cy="2790825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l208">
            <a:extLst>
              <a:ext uri="{FF2B5EF4-FFF2-40B4-BE49-F238E27FC236}">
                <a16:creationId xmlns:a16="http://schemas.microsoft.com/office/drawing/2014/main" id="{F16D89E7-07CA-41B3-BBAF-26E92E6502DE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209">
            <a:extLst>
              <a:ext uri="{FF2B5EF4-FFF2-40B4-BE49-F238E27FC236}">
                <a16:creationId xmlns:a16="http://schemas.microsoft.com/office/drawing/2014/main" id="{655D1F86-C95E-4E95-BB93-D68CC3ACE001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共同工具接口的执行检查不构成第三种模型验证结果。</a:t>
            </a:r>
          </a:p>
        </p:txBody>
      </p:sp>
    </p:spTree>
    <p:extLst>
      <p:ext uri="{BB962C8B-B14F-4D97-AF65-F5344CB8AC3E}">
        <p14:creationId xmlns:p14="http://schemas.microsoft.com/office/powerpoint/2010/main" val="23494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210">
            <a:extLst>
              <a:ext uri="{FF2B5EF4-FFF2-40B4-BE49-F238E27FC236}">
                <a16:creationId xmlns:a16="http://schemas.microsoft.com/office/drawing/2014/main" id="{0AEB7A46-7FCC-4B5C-904F-797B38EC187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03  本发明实施例</a:t>
            </a:r>
          </a:p>
        </p:txBody>
      </p:sp>
      <p:sp>
        <p:nvSpPr>
          <p:cNvPr id="2" name="t211">
            <a:extLst>
              <a:ext uri="{FF2B5EF4-FFF2-40B4-BE49-F238E27FC236}">
                <a16:creationId xmlns:a16="http://schemas.microsoft.com/office/drawing/2014/main" id="{5B4A8716-F3A1-4229-BF25-DBB2E6DBE4B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实施例：沿途快充与导航</a:t>
            </a:r>
          </a:p>
        </p:txBody>
      </p:sp>
      <p:sp>
        <p:nvSpPr>
          <p:cNvPr id="3" name="t212">
            <a:extLst>
              <a:ext uri="{FF2B5EF4-FFF2-40B4-BE49-F238E27FC236}">
                <a16:creationId xmlns:a16="http://schemas.microsoft.com/office/drawing/2014/main" id="{12CAD6E2-E382-437B-976A-39594DF1C858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示例站点和数值只用于展示协议，不是实验或真实服务数据。</a:t>
            </a:r>
          </a:p>
        </p:txBody>
      </p:sp>
      <p:sp>
        <p:nvSpPr>
          <p:cNvPr id="4" name="l213">
            <a:extLst>
              <a:ext uri="{FF2B5EF4-FFF2-40B4-BE49-F238E27FC236}">
                <a16:creationId xmlns:a16="http://schemas.microsoft.com/office/drawing/2014/main" id="{D4C7BE4C-AFF7-4396-9A6B-AFD6C9A9D9B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214">
            <a:extLst>
              <a:ext uri="{FF2B5EF4-FFF2-40B4-BE49-F238E27FC236}">
                <a16:creationId xmlns:a16="http://schemas.microsoft.com/office/drawing/2014/main" id="{25642595-D5EA-482E-9880-31DADA8B75F7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215">
            <a:extLst>
              <a:ext uri="{FF2B5EF4-FFF2-40B4-BE49-F238E27FC236}">
                <a16:creationId xmlns:a16="http://schemas.microsoft.com/office/drawing/2014/main" id="{BCE11B86-818F-4E59-B7DC-676F8FB4B1A3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7" name="t216">
            <a:extLst>
              <a:ext uri="{FF2B5EF4-FFF2-40B4-BE49-F238E27FC236}">
                <a16:creationId xmlns:a16="http://schemas.microsoft.com/office/drawing/2014/main" id="{F4748BDB-D4D2-4785-8F49-960A855A7DDB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用户约束：空闲、接口兼容、绕行 ≤ 10 分钟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60DE05F-E4C7-4EEF-AE34-02D9B95C6565}"/>
              </a:ext>
            </a:extLst>
          </p:cNvPr>
          <p:cNvGraphicFramePr/>
          <p:nvPr/>
        </p:nvGraphicFramePr>
        <p:xfrm>
          <a:off x="609600" y="2638425"/>
          <a:ext cx="10972800" cy="2924175"/>
        </p:xfrm>
        <a:graphic>
          <a:graphicData uri="http://schemas.openxmlformats.org/drawingml/2006/table">
            <a:tbl>
              <a:tblPr/>
              <a:tblGrid>
                <a:gridCol w="71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5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车端候选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验证 / 调用分支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执行后的真实观察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查询车辆电量、位置与接口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ACCEPT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电量 28%；位置与接口已知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查询沿途快充站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ACCEPT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 不可用；B 空闲且兼容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估算 A / B 路线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ACCEPT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 绕行 6 分；B 绕行 9 分且可达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启动导航至 A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REPAIR</a:t>
                      </a:r>
                    </a:p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云端调用 B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导航目标已更新为 B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l217">
            <a:extLst>
              <a:ext uri="{FF2B5EF4-FFF2-40B4-BE49-F238E27FC236}">
                <a16:creationId xmlns:a16="http://schemas.microsoft.com/office/drawing/2014/main" id="{6EF15BF5-37AD-4402-BAD0-F25CB174F607}"/>
              </a:ext>
            </a:extLst>
          </p:cNvPr>
          <p:cNvSpPr>
            <a:spLocks noGrp="1"/>
          </p:cNvSpPr>
          <p:nvPr/>
        </p:nvSpPr>
        <p:spPr>
          <a:xfrm>
            <a:off x="609600" y="2638425"/>
            <a:ext cx="10972800" cy="0"/>
          </a:xfrm>
          <a:prstGeom prst="line">
            <a:avLst/>
          </a:prstGeom>
          <a:noFill/>
          <a:ln w="28575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l218">
            <a:extLst>
              <a:ext uri="{FF2B5EF4-FFF2-40B4-BE49-F238E27FC236}">
                <a16:creationId xmlns:a16="http://schemas.microsoft.com/office/drawing/2014/main" id="{56D1BFD5-112B-4E0F-9564-985C1A7D9712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219">
            <a:extLst>
              <a:ext uri="{FF2B5EF4-FFF2-40B4-BE49-F238E27FC236}">
                <a16:creationId xmlns:a16="http://schemas.microsoft.com/office/drawing/2014/main" id="{F73C814F-D024-4680-BDB0-2C18D573E58D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前 3 步 ACCEPT 执行车端提议；第 4 步 REPAIR 由云端推理并调用同一环境。</a:t>
            </a:r>
          </a:p>
        </p:txBody>
      </p:sp>
    </p:spTree>
    <p:extLst>
      <p:ext uri="{BB962C8B-B14F-4D97-AF65-F5344CB8AC3E}">
        <p14:creationId xmlns:p14="http://schemas.microsoft.com/office/powerpoint/2010/main" val="1221738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220">
            <a:extLst>
              <a:ext uri="{FF2B5EF4-FFF2-40B4-BE49-F238E27FC236}">
                <a16:creationId xmlns:a16="http://schemas.microsoft.com/office/drawing/2014/main" id="{603356AB-5374-4982-AA9E-AB611D4DA70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03  本发明实施例</a:t>
            </a:r>
          </a:p>
        </p:txBody>
      </p:sp>
      <p:sp>
        <p:nvSpPr>
          <p:cNvPr id="2" name="t221">
            <a:extLst>
              <a:ext uri="{FF2B5EF4-FFF2-40B4-BE49-F238E27FC236}">
                <a16:creationId xmlns:a16="http://schemas.microsoft.com/office/drawing/2014/main" id="{AE042050-7612-48B8-8B2B-5857FA9ECC8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REPAIR：云端接管导航步骤的推理与调用</a:t>
            </a:r>
          </a:p>
        </p:txBody>
      </p:sp>
      <p:sp>
        <p:nvSpPr>
          <p:cNvPr id="3" name="t222">
            <a:extLst>
              <a:ext uri="{FF2B5EF4-FFF2-40B4-BE49-F238E27FC236}">
                <a16:creationId xmlns:a16="http://schemas.microsoft.com/office/drawing/2014/main" id="{CF7B9CA5-9821-498A-945E-F428DF1297AC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共享历史已包含站点与路线结果；车端本步误选不可用的站点 A。</a:t>
            </a:r>
          </a:p>
        </p:txBody>
      </p:sp>
      <p:sp>
        <p:nvSpPr>
          <p:cNvPr id="4" name="l223">
            <a:extLst>
              <a:ext uri="{FF2B5EF4-FFF2-40B4-BE49-F238E27FC236}">
                <a16:creationId xmlns:a16="http://schemas.microsoft.com/office/drawing/2014/main" id="{3CFFB87B-BE03-46C9-B03D-C8746AC2967A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224">
            <a:extLst>
              <a:ext uri="{FF2B5EF4-FFF2-40B4-BE49-F238E27FC236}">
                <a16:creationId xmlns:a16="http://schemas.microsoft.com/office/drawing/2014/main" id="{32621FF6-054E-4171-AFD3-D1DF76BB2654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225">
            <a:extLst>
              <a:ext uri="{FF2B5EF4-FFF2-40B4-BE49-F238E27FC236}">
                <a16:creationId xmlns:a16="http://schemas.microsoft.com/office/drawing/2014/main" id="{C32990F9-C69A-4D4D-9E12-056F94F1823D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7" name="l226">
            <a:extLst>
              <a:ext uri="{FF2B5EF4-FFF2-40B4-BE49-F238E27FC236}">
                <a16:creationId xmlns:a16="http://schemas.microsoft.com/office/drawing/2014/main" id="{9F75ABAF-4FA0-44DF-A798-9C65111BC104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227">
            <a:extLst>
              <a:ext uri="{FF2B5EF4-FFF2-40B4-BE49-F238E27FC236}">
                <a16:creationId xmlns:a16="http://schemas.microsoft.com/office/drawing/2014/main" id="{F9A3C820-3962-44BF-BD3E-398329593DBA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6381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t228">
            <a:extLst>
              <a:ext uri="{FF2B5EF4-FFF2-40B4-BE49-F238E27FC236}">
                <a16:creationId xmlns:a16="http://schemas.microsoft.com/office/drawing/2014/main" id="{37049229-3F71-4FDC-B088-CA406C0BD6ED}"/>
              </a:ext>
            </a:extLst>
          </p:cNvPr>
          <p:cNvSpPr>
            <a:spLocks noGrp="1"/>
          </p:cNvSpPr>
          <p:nvPr/>
        </p:nvSpPr>
        <p:spPr>
          <a:xfrm>
            <a:off x="1428750" y="2305050"/>
            <a:ext cx="2381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车端提议</a:t>
            </a:r>
          </a:p>
        </p:txBody>
      </p:sp>
      <p:sp>
        <p:nvSpPr>
          <p:cNvPr id="10" name="t229">
            <a:extLst>
              <a:ext uri="{FF2B5EF4-FFF2-40B4-BE49-F238E27FC236}">
                <a16:creationId xmlns:a16="http://schemas.microsoft.com/office/drawing/2014/main" id="{12DF0F74-B7B9-4BCF-B393-E4D0FF3212C1}"/>
              </a:ext>
            </a:extLst>
          </p:cNvPr>
          <p:cNvSpPr>
            <a:spLocks noGrp="1"/>
          </p:cNvSpPr>
          <p:nvPr/>
        </p:nvSpPr>
        <p:spPr>
          <a:xfrm>
            <a:off x="3962400" y="2295525"/>
            <a:ext cx="44196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start_navigation(A)</a:t>
            </a:r>
          </a:p>
        </p:txBody>
      </p:sp>
      <p:sp>
        <p:nvSpPr>
          <p:cNvPr id="11" name="t230">
            <a:extLst>
              <a:ext uri="{FF2B5EF4-FFF2-40B4-BE49-F238E27FC236}">
                <a16:creationId xmlns:a16="http://schemas.microsoft.com/office/drawing/2014/main" id="{EE123DC7-A148-4102-9920-8F9EBD1D69E9}"/>
              </a:ext>
            </a:extLst>
          </p:cNvPr>
          <p:cNvSpPr>
            <a:spLocks noGrp="1"/>
          </p:cNvSpPr>
          <p:nvPr/>
        </p:nvSpPr>
        <p:spPr>
          <a:xfrm>
            <a:off x="8515350" y="2238375"/>
            <a:ext cx="29241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云端验证不通过，进入 REPAIR</a:t>
            </a:r>
          </a:p>
        </p:txBody>
      </p:sp>
      <p:sp>
        <p:nvSpPr>
          <p:cNvPr id="12" name="l231">
            <a:extLst>
              <a:ext uri="{FF2B5EF4-FFF2-40B4-BE49-F238E27FC236}">
                <a16:creationId xmlns:a16="http://schemas.microsoft.com/office/drawing/2014/main" id="{920C4068-7947-4A6A-891F-A1339D3A6A14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232">
            <a:extLst>
              <a:ext uri="{FF2B5EF4-FFF2-40B4-BE49-F238E27FC236}">
                <a16:creationId xmlns:a16="http://schemas.microsoft.com/office/drawing/2014/main" id="{531C8C14-EE4A-434E-A7D7-1630B0488F0F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6381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25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t233">
            <a:extLst>
              <a:ext uri="{FF2B5EF4-FFF2-40B4-BE49-F238E27FC236}">
                <a16:creationId xmlns:a16="http://schemas.microsoft.com/office/drawing/2014/main" id="{9A615A68-6A96-409E-80BF-5A7C115DB3F1}"/>
              </a:ext>
            </a:extLst>
          </p:cNvPr>
          <p:cNvSpPr>
            <a:spLocks noGrp="1"/>
          </p:cNvSpPr>
          <p:nvPr/>
        </p:nvSpPr>
        <p:spPr>
          <a:xfrm>
            <a:off x="1428750" y="3457575"/>
            <a:ext cx="2381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云端推理</a:t>
            </a:r>
          </a:p>
        </p:txBody>
      </p:sp>
      <p:sp>
        <p:nvSpPr>
          <p:cNvPr id="15" name="t234">
            <a:extLst>
              <a:ext uri="{FF2B5EF4-FFF2-40B4-BE49-F238E27FC236}">
                <a16:creationId xmlns:a16="http://schemas.microsoft.com/office/drawing/2014/main" id="{6F57A380-B514-4B54-8652-8AF433F99470}"/>
              </a:ext>
            </a:extLst>
          </p:cNvPr>
          <p:cNvSpPr>
            <a:spLocks noGrp="1"/>
          </p:cNvSpPr>
          <p:nvPr/>
        </p:nvSpPr>
        <p:spPr>
          <a:xfrm>
            <a:off x="3962400" y="3448050"/>
            <a:ext cx="44196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0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排除 A，重新选择 B</a:t>
            </a:r>
          </a:p>
        </p:txBody>
      </p:sp>
      <p:sp>
        <p:nvSpPr>
          <p:cNvPr id="16" name="t235">
            <a:extLst>
              <a:ext uri="{FF2B5EF4-FFF2-40B4-BE49-F238E27FC236}">
                <a16:creationId xmlns:a16="http://schemas.microsoft.com/office/drawing/2014/main" id="{9302E166-0484-437B-B297-A9575886D549}"/>
              </a:ext>
            </a:extLst>
          </p:cNvPr>
          <p:cNvSpPr>
            <a:spLocks noGrp="1"/>
          </p:cNvSpPr>
          <p:nvPr/>
        </p:nvSpPr>
        <p:spPr>
          <a:xfrm>
            <a:off x="8515350" y="3390900"/>
            <a:ext cx="29241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依据空闲、接口、可达和绕行约束</a:t>
            </a:r>
          </a:p>
        </p:txBody>
      </p:sp>
      <p:sp>
        <p:nvSpPr>
          <p:cNvPr id="17" name="l236">
            <a:extLst>
              <a:ext uri="{FF2B5EF4-FFF2-40B4-BE49-F238E27FC236}">
                <a16:creationId xmlns:a16="http://schemas.microsoft.com/office/drawing/2014/main" id="{7648BE9F-C491-42D3-BE82-65C5B8840FC0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237">
            <a:extLst>
              <a:ext uri="{FF2B5EF4-FFF2-40B4-BE49-F238E27FC236}">
                <a16:creationId xmlns:a16="http://schemas.microsoft.com/office/drawing/2014/main" id="{A1890040-7F3A-43C8-89EE-35D5BDD7106A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6381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t238">
            <a:extLst>
              <a:ext uri="{FF2B5EF4-FFF2-40B4-BE49-F238E27FC236}">
                <a16:creationId xmlns:a16="http://schemas.microsoft.com/office/drawing/2014/main" id="{F1E7310F-215B-4782-95F5-81F4B517C9C0}"/>
              </a:ext>
            </a:extLst>
          </p:cNvPr>
          <p:cNvSpPr>
            <a:spLocks noGrp="1"/>
          </p:cNvSpPr>
          <p:nvPr/>
        </p:nvSpPr>
        <p:spPr>
          <a:xfrm>
            <a:off x="1428750" y="4610100"/>
            <a:ext cx="2381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云端调用</a:t>
            </a:r>
          </a:p>
        </p:txBody>
      </p:sp>
      <p:sp>
        <p:nvSpPr>
          <p:cNvPr id="20" name="t239">
            <a:extLst>
              <a:ext uri="{FF2B5EF4-FFF2-40B4-BE49-F238E27FC236}">
                <a16:creationId xmlns:a16="http://schemas.microsoft.com/office/drawing/2014/main" id="{5C51CF18-F254-4756-960A-65C1314FFDC4}"/>
              </a:ext>
            </a:extLst>
          </p:cNvPr>
          <p:cNvSpPr>
            <a:spLocks noGrp="1"/>
          </p:cNvSpPr>
          <p:nvPr/>
        </p:nvSpPr>
        <p:spPr>
          <a:xfrm>
            <a:off x="3962400" y="4600575"/>
            <a:ext cx="44196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start_navigation(B)</a:t>
            </a:r>
          </a:p>
        </p:txBody>
      </p:sp>
      <p:sp>
        <p:nvSpPr>
          <p:cNvPr id="21" name="t240">
            <a:extLst>
              <a:ext uri="{FF2B5EF4-FFF2-40B4-BE49-F238E27FC236}">
                <a16:creationId xmlns:a16="http://schemas.microsoft.com/office/drawing/2014/main" id="{9302BD59-BDE4-405E-B976-DCE358CBA001}"/>
              </a:ext>
            </a:extLst>
          </p:cNvPr>
          <p:cNvSpPr>
            <a:spLocks noGrp="1"/>
          </p:cNvSpPr>
          <p:nvPr/>
        </p:nvSpPr>
        <p:spPr>
          <a:xfrm>
            <a:off x="8515350" y="4543425"/>
            <a:ext cx="29241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通过同一车端接口执行，返回真实结果</a:t>
            </a:r>
          </a:p>
        </p:txBody>
      </p:sp>
      <p:sp>
        <p:nvSpPr>
          <p:cNvPr id="22" name="l241">
            <a:extLst>
              <a:ext uri="{FF2B5EF4-FFF2-40B4-BE49-F238E27FC236}">
                <a16:creationId xmlns:a16="http://schemas.microsoft.com/office/drawing/2014/main" id="{EE67E64D-C21A-41E2-BFFE-769D7CC105A0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242">
            <a:extLst>
              <a:ext uri="{FF2B5EF4-FFF2-40B4-BE49-F238E27FC236}">
                <a16:creationId xmlns:a16="http://schemas.microsoft.com/office/drawing/2014/main" id="{84D79F4C-59F3-4B58-A8E8-09699D6E2F89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车端提议 A 未执行；云端完成本步后，共享真实反馈，下一步由车端继续。</a:t>
            </a:r>
          </a:p>
        </p:txBody>
      </p:sp>
    </p:spTree>
    <p:extLst>
      <p:ext uri="{BB962C8B-B14F-4D97-AF65-F5344CB8AC3E}">
        <p14:creationId xmlns:p14="http://schemas.microsoft.com/office/powerpoint/2010/main" val="769329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243">
            <a:extLst>
              <a:ext uri="{FF2B5EF4-FFF2-40B4-BE49-F238E27FC236}">
                <a16:creationId xmlns:a16="http://schemas.microsoft.com/office/drawing/2014/main" id="{A276279E-779C-44AF-94AE-3CC9BB263CB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03  本发明实施例</a:t>
            </a:r>
          </a:p>
        </p:txBody>
      </p:sp>
      <p:sp>
        <p:nvSpPr>
          <p:cNvPr id="2" name="t244">
            <a:extLst>
              <a:ext uri="{FF2B5EF4-FFF2-40B4-BE49-F238E27FC236}">
                <a16:creationId xmlns:a16="http://schemas.microsoft.com/office/drawing/2014/main" id="{08DB2EE1-8FDC-4C11-A8F8-507E92118BE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共同环境中的执行异常处理</a:t>
            </a:r>
          </a:p>
        </p:txBody>
      </p:sp>
      <p:sp>
        <p:nvSpPr>
          <p:cNvPr id="3" name="t245">
            <a:extLst>
              <a:ext uri="{FF2B5EF4-FFF2-40B4-BE49-F238E27FC236}">
                <a16:creationId xmlns:a16="http://schemas.microsoft.com/office/drawing/2014/main" id="{DFDE8D3C-9ED3-4597-ABCF-6AC07ECB4D71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异常处理独立于 ACCEPT / REPAIR，不增加第三种验证分支。</a:t>
            </a:r>
          </a:p>
        </p:txBody>
      </p:sp>
      <p:sp>
        <p:nvSpPr>
          <p:cNvPr id="4" name="l246">
            <a:extLst>
              <a:ext uri="{FF2B5EF4-FFF2-40B4-BE49-F238E27FC236}">
                <a16:creationId xmlns:a16="http://schemas.microsoft.com/office/drawing/2014/main" id="{755A56FA-77F6-41CA-B0C1-B703A8B951EB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247">
            <a:extLst>
              <a:ext uri="{FF2B5EF4-FFF2-40B4-BE49-F238E27FC236}">
                <a16:creationId xmlns:a16="http://schemas.microsoft.com/office/drawing/2014/main" id="{9297D835-67D9-4E31-9F79-B110EB5831EF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248">
            <a:extLst>
              <a:ext uri="{FF2B5EF4-FFF2-40B4-BE49-F238E27FC236}">
                <a16:creationId xmlns:a16="http://schemas.microsoft.com/office/drawing/2014/main" id="{BD9C0E52-44B1-4033-820A-5F3C0518ECD7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7DCC21D-AD32-46DB-B313-929048A7358D}"/>
              </a:ext>
            </a:extLst>
          </p:cNvPr>
          <p:cNvGraphicFramePr/>
          <p:nvPr/>
        </p:nvGraphicFramePr>
        <p:xfrm>
          <a:off x="609600" y="2133600"/>
          <a:ext cx="10972800" cy="3429000"/>
        </p:xfrm>
        <a:graphic>
          <a:graphicData uri="http://schemas.openxmlformats.org/drawingml/2006/table">
            <a:tbl>
              <a:tblPr/>
              <a:tblGrid>
                <a:gridCol w="258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情形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不可突破的边界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云端验证超时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暂停本步；重试或提示用户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不默认视为 ACCEPT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共享环境状态变化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刷新上下文后重新验证或推理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不使用过期车况调用工具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工具权限/参数失败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接口拒绝执行并返回错误观察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云端调用不能绕过接口限制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调用超时/重复重试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检查实际执行状态，再决定重试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避免在同一环境重复产生副作用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l249">
            <a:extLst>
              <a:ext uri="{FF2B5EF4-FFF2-40B4-BE49-F238E27FC236}">
                <a16:creationId xmlns:a16="http://schemas.microsoft.com/office/drawing/2014/main" id="{483EF460-B7EC-403A-89D6-374F19D81B4C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10972800" cy="0"/>
          </a:xfrm>
          <a:prstGeom prst="line">
            <a:avLst/>
          </a:prstGeom>
          <a:noFill/>
          <a:ln w="28575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l250">
            <a:extLst>
              <a:ext uri="{FF2B5EF4-FFF2-40B4-BE49-F238E27FC236}">
                <a16:creationId xmlns:a16="http://schemas.microsoft.com/office/drawing/2014/main" id="{92D006D3-CDF4-47CA-9FE9-5FA4A4ABAA6A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251">
            <a:extLst>
              <a:ext uri="{FF2B5EF4-FFF2-40B4-BE49-F238E27FC236}">
                <a16:creationId xmlns:a16="http://schemas.microsoft.com/office/drawing/2014/main" id="{940DEC44-0497-4669-902A-9085B26A8C4F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工具失败是实际观察的一部分，后续推理须依据同一环境的真实状态。</a:t>
            </a:r>
          </a:p>
        </p:txBody>
      </p:sp>
    </p:spTree>
    <p:extLst>
      <p:ext uri="{BB962C8B-B14F-4D97-AF65-F5344CB8AC3E}">
        <p14:creationId xmlns:p14="http://schemas.microsoft.com/office/powerpoint/2010/main" val="820537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252">
            <a:extLst>
              <a:ext uri="{FF2B5EF4-FFF2-40B4-BE49-F238E27FC236}">
                <a16:creationId xmlns:a16="http://schemas.microsoft.com/office/drawing/2014/main" id="{84C51055-4C53-4792-8624-D1C77F5ABF9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04  本 IDEA 发明的技术保护点</a:t>
            </a:r>
          </a:p>
        </p:txBody>
      </p:sp>
      <p:sp>
        <p:nvSpPr>
          <p:cNvPr id="2" name="t253">
            <a:extLst>
              <a:ext uri="{FF2B5EF4-FFF2-40B4-BE49-F238E27FC236}">
                <a16:creationId xmlns:a16="http://schemas.microsoft.com/office/drawing/2014/main" id="{62C463D7-A73E-4539-BF10-282D1E950D6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单步验证、云端修复与同一环境协作</a:t>
            </a:r>
          </a:p>
        </p:txBody>
      </p:sp>
      <p:sp>
        <p:nvSpPr>
          <p:cNvPr id="3" name="t254">
            <a:extLst>
              <a:ext uri="{FF2B5EF4-FFF2-40B4-BE49-F238E27FC236}">
                <a16:creationId xmlns:a16="http://schemas.microsoft.com/office/drawing/2014/main" id="{9A7039E9-42C7-494B-BCB2-4A99F46407D2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保护重点是多步 Agent 任务中的协作方式与状态续接关系。</a:t>
            </a:r>
          </a:p>
        </p:txBody>
      </p:sp>
      <p:sp>
        <p:nvSpPr>
          <p:cNvPr id="4" name="l255">
            <a:extLst>
              <a:ext uri="{FF2B5EF4-FFF2-40B4-BE49-F238E27FC236}">
                <a16:creationId xmlns:a16="http://schemas.microsoft.com/office/drawing/2014/main" id="{381CA70C-F96A-406B-ACD3-BBB74A4EA8B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256">
            <a:extLst>
              <a:ext uri="{FF2B5EF4-FFF2-40B4-BE49-F238E27FC236}">
                <a16:creationId xmlns:a16="http://schemas.microsoft.com/office/drawing/2014/main" id="{75DB95AD-5080-4698-BAE1-76173B683477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257">
            <a:extLst>
              <a:ext uri="{FF2B5EF4-FFF2-40B4-BE49-F238E27FC236}">
                <a16:creationId xmlns:a16="http://schemas.microsoft.com/office/drawing/2014/main" id="{D1E81FAE-F6D6-46F5-93C6-B784C478B7E9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7" name="l258">
            <a:extLst>
              <a:ext uri="{FF2B5EF4-FFF2-40B4-BE49-F238E27FC236}">
                <a16:creationId xmlns:a16="http://schemas.microsoft.com/office/drawing/2014/main" id="{AA943AF1-0BA3-4576-9FFD-C3C0864F8346}"/>
              </a:ext>
            </a:extLst>
          </p:cNvPr>
          <p:cNvSpPr>
            <a:spLocks noGrp="1"/>
          </p:cNvSpPr>
          <p:nvPr/>
        </p:nvSpPr>
        <p:spPr>
          <a:xfrm>
            <a:off x="609600" y="1990725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259">
            <a:extLst>
              <a:ext uri="{FF2B5EF4-FFF2-40B4-BE49-F238E27FC236}">
                <a16:creationId xmlns:a16="http://schemas.microsoft.com/office/drawing/2014/main" id="{85843326-E1AD-4355-9742-1BE5F4DC8C37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6000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t260">
            <a:extLst>
              <a:ext uri="{FF2B5EF4-FFF2-40B4-BE49-F238E27FC236}">
                <a16:creationId xmlns:a16="http://schemas.microsoft.com/office/drawing/2014/main" id="{DCA1B3D2-7D93-4BF5-A543-A5A288136E6F}"/>
              </a:ext>
            </a:extLst>
          </p:cNvPr>
          <p:cNvSpPr>
            <a:spLocks noGrp="1"/>
          </p:cNvSpPr>
          <p:nvPr/>
        </p:nvSpPr>
        <p:spPr>
          <a:xfrm>
            <a:off x="1466850" y="2085975"/>
            <a:ext cx="3333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车端逐步提议</a:t>
            </a:r>
          </a:p>
        </p:txBody>
      </p:sp>
      <p:sp>
        <p:nvSpPr>
          <p:cNvPr id="10" name="t261">
            <a:extLst>
              <a:ext uri="{FF2B5EF4-FFF2-40B4-BE49-F238E27FC236}">
                <a16:creationId xmlns:a16="http://schemas.microsoft.com/office/drawing/2014/main" id="{83358F09-898B-4919-8D09-7FC279ECCD2C}"/>
              </a:ext>
            </a:extLst>
          </p:cNvPr>
          <p:cNvSpPr>
            <a:spLocks noGrp="1"/>
          </p:cNvSpPr>
          <p:nvPr/>
        </p:nvSpPr>
        <p:spPr>
          <a:xfrm>
            <a:off x="4981575" y="2066925"/>
            <a:ext cx="65055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车端小模型根据共享任务历史与真实观察提出当前一步工具调用。</a:t>
            </a:r>
          </a:p>
        </p:txBody>
      </p:sp>
      <p:sp>
        <p:nvSpPr>
          <p:cNvPr id="11" name="l262">
            <a:extLst>
              <a:ext uri="{FF2B5EF4-FFF2-40B4-BE49-F238E27FC236}">
                <a16:creationId xmlns:a16="http://schemas.microsoft.com/office/drawing/2014/main" id="{D92D0703-792B-4FF1-89AC-C083F213C15A}"/>
              </a:ext>
            </a:extLst>
          </p:cNvPr>
          <p:cNvSpPr>
            <a:spLocks noGrp="1"/>
          </p:cNvSpPr>
          <p:nvPr/>
        </p:nvSpPr>
        <p:spPr>
          <a:xfrm>
            <a:off x="609600" y="2790825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263">
            <a:extLst>
              <a:ext uri="{FF2B5EF4-FFF2-40B4-BE49-F238E27FC236}">
                <a16:creationId xmlns:a16="http://schemas.microsoft.com/office/drawing/2014/main" id="{C1770EBB-6FD2-4877-8950-ABEC8BB7C0B6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6000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t264">
            <a:extLst>
              <a:ext uri="{FF2B5EF4-FFF2-40B4-BE49-F238E27FC236}">
                <a16:creationId xmlns:a16="http://schemas.microsoft.com/office/drawing/2014/main" id="{7FF1474F-66D2-43B3-914C-D453AF646C72}"/>
              </a:ext>
            </a:extLst>
          </p:cNvPr>
          <p:cNvSpPr>
            <a:spLocks noGrp="1"/>
          </p:cNvSpPr>
          <p:nvPr/>
        </p:nvSpPr>
        <p:spPr>
          <a:xfrm>
            <a:off x="1466850" y="2886075"/>
            <a:ext cx="3333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两分支验证</a:t>
            </a:r>
          </a:p>
        </p:txBody>
      </p:sp>
      <p:sp>
        <p:nvSpPr>
          <p:cNvPr id="14" name="t265">
            <a:extLst>
              <a:ext uri="{FF2B5EF4-FFF2-40B4-BE49-F238E27FC236}">
                <a16:creationId xmlns:a16="http://schemas.microsoft.com/office/drawing/2014/main" id="{1AE1B208-2F3C-420B-9C61-77CAE38D3254}"/>
              </a:ext>
            </a:extLst>
          </p:cNvPr>
          <p:cNvSpPr>
            <a:spLocks noGrp="1"/>
          </p:cNvSpPr>
          <p:nvPr/>
        </p:nvSpPr>
        <p:spPr>
          <a:xfrm>
            <a:off x="4981575" y="2867025"/>
            <a:ext cx="65055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云端每步判断 ACCEPT 或 REPAIR，决定采用车端提议或云端修复。</a:t>
            </a:r>
          </a:p>
        </p:txBody>
      </p:sp>
      <p:sp>
        <p:nvSpPr>
          <p:cNvPr id="15" name="l266">
            <a:extLst>
              <a:ext uri="{FF2B5EF4-FFF2-40B4-BE49-F238E27FC236}">
                <a16:creationId xmlns:a16="http://schemas.microsoft.com/office/drawing/2014/main" id="{8F656052-AE0E-4E26-9D5E-98FCD05CE8D2}"/>
              </a:ext>
            </a:extLst>
          </p:cNvPr>
          <p:cNvSpPr>
            <a:spLocks noGrp="1"/>
          </p:cNvSpPr>
          <p:nvPr/>
        </p:nvSpPr>
        <p:spPr>
          <a:xfrm>
            <a:off x="609600" y="3590925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267">
            <a:extLst>
              <a:ext uri="{FF2B5EF4-FFF2-40B4-BE49-F238E27FC236}">
                <a16:creationId xmlns:a16="http://schemas.microsoft.com/office/drawing/2014/main" id="{424355FE-9252-4B77-9D38-49DAC847EF5E}"/>
              </a:ext>
            </a:extLst>
          </p:cNvPr>
          <p:cNvSpPr>
            <a:spLocks noGrp="1"/>
          </p:cNvSpPr>
          <p:nvPr/>
        </p:nvSpPr>
        <p:spPr>
          <a:xfrm>
            <a:off x="609600" y="3695700"/>
            <a:ext cx="6000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t268">
            <a:extLst>
              <a:ext uri="{FF2B5EF4-FFF2-40B4-BE49-F238E27FC236}">
                <a16:creationId xmlns:a16="http://schemas.microsoft.com/office/drawing/2014/main" id="{596D74C2-9C16-4ACA-8D94-DB9C6B201BEA}"/>
              </a:ext>
            </a:extLst>
          </p:cNvPr>
          <p:cNvSpPr>
            <a:spLocks noGrp="1"/>
          </p:cNvSpPr>
          <p:nvPr/>
        </p:nvSpPr>
        <p:spPr>
          <a:xfrm>
            <a:off x="1466850" y="3686175"/>
            <a:ext cx="3333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云端单步修复</a:t>
            </a:r>
          </a:p>
        </p:txBody>
      </p:sp>
      <p:sp>
        <p:nvSpPr>
          <p:cNvPr id="18" name="t269">
            <a:extLst>
              <a:ext uri="{FF2B5EF4-FFF2-40B4-BE49-F238E27FC236}">
                <a16:creationId xmlns:a16="http://schemas.microsoft.com/office/drawing/2014/main" id="{B066F94C-3456-4625-B4F7-451BB3BBFBC3}"/>
              </a:ext>
            </a:extLst>
          </p:cNvPr>
          <p:cNvSpPr>
            <a:spLocks noGrp="1"/>
          </p:cNvSpPr>
          <p:nvPr/>
        </p:nvSpPr>
        <p:spPr>
          <a:xfrm>
            <a:off x="4981575" y="3667125"/>
            <a:ext cx="65055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REPAIR 时云端模型接管当前一步的推理和工具调用。</a:t>
            </a:r>
          </a:p>
        </p:txBody>
      </p:sp>
      <p:sp>
        <p:nvSpPr>
          <p:cNvPr id="19" name="l270">
            <a:extLst>
              <a:ext uri="{FF2B5EF4-FFF2-40B4-BE49-F238E27FC236}">
                <a16:creationId xmlns:a16="http://schemas.microsoft.com/office/drawing/2014/main" id="{AF7982F3-1316-4EB0-834E-2178D164915E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271">
            <a:extLst>
              <a:ext uri="{FF2B5EF4-FFF2-40B4-BE49-F238E27FC236}">
                <a16:creationId xmlns:a16="http://schemas.microsoft.com/office/drawing/2014/main" id="{1DFD8E6A-D67E-4BAA-8A01-937E21BD0D46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6000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272">
            <a:extLst>
              <a:ext uri="{FF2B5EF4-FFF2-40B4-BE49-F238E27FC236}">
                <a16:creationId xmlns:a16="http://schemas.microsoft.com/office/drawing/2014/main" id="{DA0F3E26-A8A9-4977-A204-DDA225B6708F}"/>
              </a:ext>
            </a:extLst>
          </p:cNvPr>
          <p:cNvSpPr>
            <a:spLocks noGrp="1"/>
          </p:cNvSpPr>
          <p:nvPr/>
        </p:nvSpPr>
        <p:spPr>
          <a:xfrm>
            <a:off x="1466850" y="4486275"/>
            <a:ext cx="3333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同一环境执行</a:t>
            </a:r>
          </a:p>
        </p:txBody>
      </p:sp>
      <p:sp>
        <p:nvSpPr>
          <p:cNvPr id="22" name="t273">
            <a:extLst>
              <a:ext uri="{FF2B5EF4-FFF2-40B4-BE49-F238E27FC236}">
                <a16:creationId xmlns:a16="http://schemas.microsoft.com/office/drawing/2014/main" id="{E17499CD-4238-4E96-85C7-9FAC8C62232F}"/>
              </a:ext>
            </a:extLst>
          </p:cNvPr>
          <p:cNvSpPr>
            <a:spLocks noGrp="1"/>
          </p:cNvSpPr>
          <p:nvPr/>
        </p:nvSpPr>
        <p:spPr>
          <a:xfrm>
            <a:off x="4981575" y="4467225"/>
            <a:ext cx="65055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两端通过同一工具接口作用于一个实际环境，本步只执行一个分支。</a:t>
            </a:r>
          </a:p>
        </p:txBody>
      </p:sp>
      <p:sp>
        <p:nvSpPr>
          <p:cNvPr id="23" name="l274">
            <a:extLst>
              <a:ext uri="{FF2B5EF4-FFF2-40B4-BE49-F238E27FC236}">
                <a16:creationId xmlns:a16="http://schemas.microsoft.com/office/drawing/2014/main" id="{2F73F7BA-FEC4-4380-9BBD-71550602DFD8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275">
            <a:extLst>
              <a:ext uri="{FF2B5EF4-FFF2-40B4-BE49-F238E27FC236}">
                <a16:creationId xmlns:a16="http://schemas.microsoft.com/office/drawing/2014/main" id="{CD4C423E-AA3C-4296-91D4-65F6F9AB8D0D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6000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5" name="t276">
            <a:extLst>
              <a:ext uri="{FF2B5EF4-FFF2-40B4-BE49-F238E27FC236}">
                <a16:creationId xmlns:a16="http://schemas.microsoft.com/office/drawing/2014/main" id="{1DBA36F9-F91A-415B-AB11-682680C2BAF6}"/>
              </a:ext>
            </a:extLst>
          </p:cNvPr>
          <p:cNvSpPr>
            <a:spLocks noGrp="1"/>
          </p:cNvSpPr>
          <p:nvPr/>
        </p:nvSpPr>
        <p:spPr>
          <a:xfrm>
            <a:off x="1466850" y="5286375"/>
            <a:ext cx="3333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共享反馈续接</a:t>
            </a:r>
          </a:p>
        </p:txBody>
      </p:sp>
      <p:sp>
        <p:nvSpPr>
          <p:cNvPr id="26" name="t277">
            <a:extLst>
              <a:ext uri="{FF2B5EF4-FFF2-40B4-BE49-F238E27FC236}">
                <a16:creationId xmlns:a16="http://schemas.microsoft.com/office/drawing/2014/main" id="{7692EB6E-F326-4177-B32B-44F9FBF7F016}"/>
              </a:ext>
            </a:extLst>
          </p:cNvPr>
          <p:cNvSpPr>
            <a:spLocks noGrp="1"/>
          </p:cNvSpPr>
          <p:nvPr/>
        </p:nvSpPr>
        <p:spPr>
          <a:xfrm>
            <a:off x="4981575" y="5267325"/>
            <a:ext cx="65055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实际工具结果写回共享历史，下一步继续由车端提议。</a:t>
            </a:r>
          </a:p>
        </p:txBody>
      </p:sp>
    </p:spTree>
    <p:extLst>
      <p:ext uri="{BB962C8B-B14F-4D97-AF65-F5344CB8AC3E}">
        <p14:creationId xmlns:p14="http://schemas.microsoft.com/office/powerpoint/2010/main" val="457417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278">
            <a:extLst>
              <a:ext uri="{FF2B5EF4-FFF2-40B4-BE49-F238E27FC236}">
                <a16:creationId xmlns:a16="http://schemas.microsoft.com/office/drawing/2014/main" id="{4D29E169-E2F2-4F90-A0EB-F6F7FCE3E44F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04  本 IDEA 发明的技术保护点</a:t>
            </a:r>
          </a:p>
        </p:txBody>
      </p:sp>
      <p:sp>
        <p:nvSpPr>
          <p:cNvPr id="2" name="t279">
            <a:extLst>
              <a:ext uri="{FF2B5EF4-FFF2-40B4-BE49-F238E27FC236}">
                <a16:creationId xmlns:a16="http://schemas.microsoft.com/office/drawing/2014/main" id="{B4C584DE-0997-455D-9EA3-6A7604D2A47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可取证的 Agent 协作痕迹</a:t>
            </a:r>
          </a:p>
        </p:txBody>
      </p:sp>
      <p:sp>
        <p:nvSpPr>
          <p:cNvPr id="3" name="t280">
            <a:extLst>
              <a:ext uri="{FF2B5EF4-FFF2-40B4-BE49-F238E27FC236}">
                <a16:creationId xmlns:a16="http://schemas.microsoft.com/office/drawing/2014/main" id="{A092B111-47DE-42FB-9C70-15D61A89A55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证据应关联车端提议、云端验证、调用来源及同一环境的真实结果。</a:t>
            </a:r>
          </a:p>
        </p:txBody>
      </p:sp>
      <p:sp>
        <p:nvSpPr>
          <p:cNvPr id="4" name="l281">
            <a:extLst>
              <a:ext uri="{FF2B5EF4-FFF2-40B4-BE49-F238E27FC236}">
                <a16:creationId xmlns:a16="http://schemas.microsoft.com/office/drawing/2014/main" id="{B3ED6BAD-EC12-4AA8-A371-8CC6C80B7F55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282">
            <a:extLst>
              <a:ext uri="{FF2B5EF4-FFF2-40B4-BE49-F238E27FC236}">
                <a16:creationId xmlns:a16="http://schemas.microsoft.com/office/drawing/2014/main" id="{E0E6DBDB-E1F3-450F-BD23-2286F9A77C22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283">
            <a:extLst>
              <a:ext uri="{FF2B5EF4-FFF2-40B4-BE49-F238E27FC236}">
                <a16:creationId xmlns:a16="http://schemas.microsoft.com/office/drawing/2014/main" id="{76BF11C9-B1CF-4EC3-B2A6-3CC8168E63B5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7" name="l284">
            <a:extLst>
              <a:ext uri="{FF2B5EF4-FFF2-40B4-BE49-F238E27FC236}">
                <a16:creationId xmlns:a16="http://schemas.microsoft.com/office/drawing/2014/main" id="{5CE9FF37-BD57-4D0E-8EB0-59633AED0A6E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285">
            <a:extLst>
              <a:ext uri="{FF2B5EF4-FFF2-40B4-BE49-F238E27FC236}">
                <a16:creationId xmlns:a16="http://schemas.microsoft.com/office/drawing/2014/main" id="{3820B3ED-9F9A-4127-8D83-BC65D4D7701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2095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车端提议</a:t>
            </a:r>
          </a:p>
        </p:txBody>
      </p:sp>
      <p:sp>
        <p:nvSpPr>
          <p:cNvPr id="9" name="t286">
            <a:extLst>
              <a:ext uri="{FF2B5EF4-FFF2-40B4-BE49-F238E27FC236}">
                <a16:creationId xmlns:a16="http://schemas.microsoft.com/office/drawing/2014/main" id="{37983625-FED5-4853-984B-478292935FD5}"/>
              </a:ext>
            </a:extLst>
          </p:cNvPr>
          <p:cNvSpPr>
            <a:spLocks noGrp="1"/>
          </p:cNvSpPr>
          <p:nvPr/>
        </p:nvSpPr>
        <p:spPr>
          <a:xfrm>
            <a:off x="2981325" y="2324100"/>
            <a:ext cx="83915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每步车端候选工具调用及对应的共享历史标识</a:t>
            </a:r>
          </a:p>
        </p:txBody>
      </p:sp>
      <p:sp>
        <p:nvSpPr>
          <p:cNvPr id="10" name="l287">
            <a:extLst>
              <a:ext uri="{FF2B5EF4-FFF2-40B4-BE49-F238E27FC236}">
                <a16:creationId xmlns:a16="http://schemas.microsoft.com/office/drawing/2014/main" id="{55F2F713-1DCE-439D-BCA4-722DDFDC9E6D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288">
            <a:extLst>
              <a:ext uri="{FF2B5EF4-FFF2-40B4-BE49-F238E27FC236}">
                <a16:creationId xmlns:a16="http://schemas.microsoft.com/office/drawing/2014/main" id="{4502C7F8-48F1-4ED2-934D-71394F301708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2095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云端接管</a:t>
            </a:r>
          </a:p>
        </p:txBody>
      </p:sp>
      <p:sp>
        <p:nvSpPr>
          <p:cNvPr id="12" name="t289">
            <a:extLst>
              <a:ext uri="{FF2B5EF4-FFF2-40B4-BE49-F238E27FC236}">
                <a16:creationId xmlns:a16="http://schemas.microsoft.com/office/drawing/2014/main" id="{DBF89B88-4C08-40E8-865A-3028495E2F06}"/>
              </a:ext>
            </a:extLst>
          </p:cNvPr>
          <p:cNvSpPr>
            <a:spLocks noGrp="1"/>
          </p:cNvSpPr>
          <p:nvPr/>
        </p:nvSpPr>
        <p:spPr>
          <a:xfrm>
            <a:off x="2981325" y="3171825"/>
            <a:ext cx="83915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ACCEPT / REPAIR 结果，以及 REPAIR 后云端发起的工具调用</a:t>
            </a:r>
          </a:p>
        </p:txBody>
      </p:sp>
      <p:sp>
        <p:nvSpPr>
          <p:cNvPr id="13" name="l290">
            <a:extLst>
              <a:ext uri="{FF2B5EF4-FFF2-40B4-BE49-F238E27FC236}">
                <a16:creationId xmlns:a16="http://schemas.microsoft.com/office/drawing/2014/main" id="{CDA0EC69-B562-4012-848F-C265E807CC3E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291">
            <a:extLst>
              <a:ext uri="{FF2B5EF4-FFF2-40B4-BE49-F238E27FC236}">
                <a16:creationId xmlns:a16="http://schemas.microsoft.com/office/drawing/2014/main" id="{B24FA0E6-4044-466C-94B3-4194F7EE4E50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2095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环境执行</a:t>
            </a:r>
          </a:p>
        </p:txBody>
      </p:sp>
      <p:sp>
        <p:nvSpPr>
          <p:cNvPr id="15" name="t292">
            <a:extLst>
              <a:ext uri="{FF2B5EF4-FFF2-40B4-BE49-F238E27FC236}">
                <a16:creationId xmlns:a16="http://schemas.microsoft.com/office/drawing/2014/main" id="{A5115CEE-4646-42BA-B3FA-711F7A3424FC}"/>
              </a:ext>
            </a:extLst>
          </p:cNvPr>
          <p:cNvSpPr>
            <a:spLocks noGrp="1"/>
          </p:cNvSpPr>
          <p:nvPr/>
        </p:nvSpPr>
        <p:spPr>
          <a:xfrm>
            <a:off x="2981325" y="4019550"/>
            <a:ext cx="83915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同一环境中的实际调用方、动作参数、执行时间和工具返回</a:t>
            </a:r>
          </a:p>
        </p:txBody>
      </p:sp>
      <p:sp>
        <p:nvSpPr>
          <p:cNvPr id="16" name="l293">
            <a:extLst>
              <a:ext uri="{FF2B5EF4-FFF2-40B4-BE49-F238E27FC236}">
                <a16:creationId xmlns:a16="http://schemas.microsoft.com/office/drawing/2014/main" id="{D95A6528-2D95-4C6E-AA42-D75BAFF5067C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294">
            <a:extLst>
              <a:ext uri="{FF2B5EF4-FFF2-40B4-BE49-F238E27FC236}">
                <a16:creationId xmlns:a16="http://schemas.microsoft.com/office/drawing/2014/main" id="{4A4DA1C0-A924-497D-8873-2ED58C29D0CD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2095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状态续接</a:t>
            </a:r>
          </a:p>
        </p:txBody>
      </p:sp>
      <p:sp>
        <p:nvSpPr>
          <p:cNvPr id="18" name="t295">
            <a:extLst>
              <a:ext uri="{FF2B5EF4-FFF2-40B4-BE49-F238E27FC236}">
                <a16:creationId xmlns:a16="http://schemas.microsoft.com/office/drawing/2014/main" id="{E0E4ED22-EEE3-4FEA-9E49-239505B6790D}"/>
              </a:ext>
            </a:extLst>
          </p:cNvPr>
          <p:cNvSpPr>
            <a:spLocks noGrp="1"/>
          </p:cNvSpPr>
          <p:nvPr/>
        </p:nvSpPr>
        <p:spPr>
          <a:xfrm>
            <a:off x="2981325" y="4867275"/>
            <a:ext cx="83915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REPAIR 时车端候选未执行，真实观察回写后车端继续下一步</a:t>
            </a:r>
          </a:p>
        </p:txBody>
      </p:sp>
      <p:sp>
        <p:nvSpPr>
          <p:cNvPr id="19" name="l296">
            <a:extLst>
              <a:ext uri="{FF2B5EF4-FFF2-40B4-BE49-F238E27FC236}">
                <a16:creationId xmlns:a16="http://schemas.microsoft.com/office/drawing/2014/main" id="{03ECD76D-91FC-4BE8-93A0-D70949921DF9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297">
            <a:extLst>
              <a:ext uri="{FF2B5EF4-FFF2-40B4-BE49-F238E27FC236}">
                <a16:creationId xmlns:a16="http://schemas.microsoft.com/office/drawing/2014/main" id="{FF7C2887-B3A4-4376-B813-00C669252D20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 err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仅看产品演示通常不足以确认云端内部决策；还需合法取得日志、接口或代码证据</a:t>
            </a:r>
            <a:r>
              <a:rPr sz="1425" b="1" dirty="0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61680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298">
            <a:extLst>
              <a:ext uri="{FF2B5EF4-FFF2-40B4-BE49-F238E27FC236}">
                <a16:creationId xmlns:a16="http://schemas.microsoft.com/office/drawing/2014/main" id="{43563D34-61A5-4B99-85E2-B965626F96E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05  本 IDEA 发明有益效果</a:t>
            </a:r>
          </a:p>
        </p:txBody>
      </p:sp>
      <p:sp>
        <p:nvSpPr>
          <p:cNvPr id="2" name="t299">
            <a:extLst>
              <a:ext uri="{FF2B5EF4-FFF2-40B4-BE49-F238E27FC236}">
                <a16:creationId xmlns:a16="http://schemas.microsoft.com/office/drawing/2014/main" id="{AE669857-D830-4FF0-84F3-A498BC03DC4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预期收益与适用条件</a:t>
            </a:r>
          </a:p>
        </p:txBody>
      </p:sp>
      <p:sp>
        <p:nvSpPr>
          <p:cNvPr id="3" name="t300">
            <a:extLst>
              <a:ext uri="{FF2B5EF4-FFF2-40B4-BE49-F238E27FC236}">
                <a16:creationId xmlns:a16="http://schemas.microsoft.com/office/drawing/2014/main" id="{C3C11F51-8C2B-444B-B23A-02F8B04C3433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申请阶段依据机制陈述预期作用，不填入未取得的性能结果。</a:t>
            </a:r>
          </a:p>
        </p:txBody>
      </p:sp>
      <p:sp>
        <p:nvSpPr>
          <p:cNvPr id="4" name="l301">
            <a:extLst>
              <a:ext uri="{FF2B5EF4-FFF2-40B4-BE49-F238E27FC236}">
                <a16:creationId xmlns:a16="http://schemas.microsoft.com/office/drawing/2014/main" id="{2B672624-53BD-48A7-9F1F-5EA68E8C1126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302">
            <a:extLst>
              <a:ext uri="{FF2B5EF4-FFF2-40B4-BE49-F238E27FC236}">
                <a16:creationId xmlns:a16="http://schemas.microsoft.com/office/drawing/2014/main" id="{476B0B43-207B-416C-BEA7-56A3A8785252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303">
            <a:extLst>
              <a:ext uri="{FF2B5EF4-FFF2-40B4-BE49-F238E27FC236}">
                <a16:creationId xmlns:a16="http://schemas.microsoft.com/office/drawing/2014/main" id="{608F8F1D-0391-496A-82C8-78E59313B140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7D7A6D4-82D3-4EC7-A286-ACCD4371159D}"/>
              </a:ext>
            </a:extLst>
          </p:cNvPr>
          <p:cNvGraphicFramePr/>
          <p:nvPr/>
        </p:nvGraphicFramePr>
        <p:xfrm>
          <a:off x="609600" y="2114550"/>
          <a:ext cx="10972800" cy="3743328"/>
        </p:xfrm>
        <a:graphic>
          <a:graphicData uri="http://schemas.openxmlformats.org/drawingml/2006/table">
            <a:tbl>
              <a:tblPr/>
              <a:tblGrid>
                <a:gridCol w="265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38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机制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可期待的作用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边界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ACCEPT 沿用车端提议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通过时可省去云端完整本步生成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仍有云端验证与通信成本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REPAIR 云端接管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不通过时由大模型完成本步推理与调用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依赖大模型推理和工具使用能力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同一工具环境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两端共用实际状态，避免独立执行结果冲突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需统一接口与调用记录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真实反馈续接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下一步根据实际工具结果继续任务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结果仍有时效与来源要求</a:t>
                      </a:r>
                    </a:p>
                  </a:txBody>
                  <a:tcPr anchor="ctr">
                    <a:solidFill>
                      <a:srgbClr val="F6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逐步验证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在当前动作执行前选择协作分支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总体质量、成本和时延需实测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l304">
            <a:extLst>
              <a:ext uri="{FF2B5EF4-FFF2-40B4-BE49-F238E27FC236}">
                <a16:creationId xmlns:a16="http://schemas.microsoft.com/office/drawing/2014/main" id="{8736DE5E-C57A-49E7-8A09-3C99A5F3B97D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72800" cy="0"/>
          </a:xfrm>
          <a:prstGeom prst="line">
            <a:avLst/>
          </a:prstGeom>
          <a:noFill/>
          <a:ln w="28575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017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305">
            <a:extLst>
              <a:ext uri="{FF2B5EF4-FFF2-40B4-BE49-F238E27FC236}">
                <a16:creationId xmlns:a16="http://schemas.microsoft.com/office/drawing/2014/main" id="{717DEA42-F122-4783-9742-2435B1DC7420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06  文献分析</a:t>
            </a:r>
          </a:p>
        </p:txBody>
      </p:sp>
      <p:sp>
        <p:nvSpPr>
          <p:cNvPr id="2" name="t306">
            <a:extLst>
              <a:ext uri="{FF2B5EF4-FFF2-40B4-BE49-F238E27FC236}">
                <a16:creationId xmlns:a16="http://schemas.microsoft.com/office/drawing/2014/main" id="{3C60AA63-33F6-48CE-8E04-4CD8ED5B6BB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代表性车载专利：端云任务分流</a:t>
            </a:r>
          </a:p>
        </p:txBody>
      </p:sp>
      <p:sp>
        <p:nvSpPr>
          <p:cNvPr id="3" name="t307">
            <a:extLst>
              <a:ext uri="{FF2B5EF4-FFF2-40B4-BE49-F238E27FC236}">
                <a16:creationId xmlns:a16="http://schemas.microsoft.com/office/drawing/2014/main" id="{2D0B7B1B-7124-47F1-95AB-671213A0FB02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按申请号、申请日、申请人、主要内容及区别分析一件文献。</a:t>
            </a:r>
          </a:p>
        </p:txBody>
      </p:sp>
      <p:sp>
        <p:nvSpPr>
          <p:cNvPr id="4" name="l308">
            <a:extLst>
              <a:ext uri="{FF2B5EF4-FFF2-40B4-BE49-F238E27FC236}">
                <a16:creationId xmlns:a16="http://schemas.microsoft.com/office/drawing/2014/main" id="{9239773B-FA56-40BA-8F20-4739BA420C26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309">
            <a:extLst>
              <a:ext uri="{FF2B5EF4-FFF2-40B4-BE49-F238E27FC236}">
                <a16:creationId xmlns:a16="http://schemas.microsoft.com/office/drawing/2014/main" id="{4F079245-20A9-405B-9F24-651E986AB4AC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310">
            <a:extLst>
              <a:ext uri="{FF2B5EF4-FFF2-40B4-BE49-F238E27FC236}">
                <a16:creationId xmlns:a16="http://schemas.microsoft.com/office/drawing/2014/main" id="{21B96C3A-BF46-43CC-9ABC-1215FB96A851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7" name="b311">
            <a:extLst>
              <a:ext uri="{FF2B5EF4-FFF2-40B4-BE49-F238E27FC236}">
                <a16:creationId xmlns:a16="http://schemas.microsoft.com/office/drawing/2014/main" id="{2BF2D21F-C5D4-41A7-8417-3A258C21B479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10972800" cy="781050"/>
          </a:xfrm>
          <a:prstGeom prst="rect">
            <a:avLst/>
          </a:prstGeom>
          <a:solidFill>
            <a:srgbClr val="F6F6F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l312">
            <a:extLst>
              <a:ext uri="{FF2B5EF4-FFF2-40B4-BE49-F238E27FC236}">
                <a16:creationId xmlns:a16="http://schemas.microsoft.com/office/drawing/2014/main" id="{EC69C782-916B-42D1-84E0-03B6E4140FCB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10972800" cy="0"/>
          </a:xfrm>
          <a:prstGeom prst="line">
            <a:avLst/>
          </a:prstGeom>
          <a:noFill/>
          <a:ln w="28575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313">
            <a:extLst>
              <a:ext uri="{FF2B5EF4-FFF2-40B4-BE49-F238E27FC236}">
                <a16:creationId xmlns:a16="http://schemas.microsoft.com/office/drawing/2014/main" id="{12AACEBB-7674-401F-8624-1DEF1B04D3E7}"/>
              </a:ext>
            </a:extLst>
          </p:cNvPr>
          <p:cNvSpPr>
            <a:spLocks noGrp="1"/>
          </p:cNvSpPr>
          <p:nvPr/>
        </p:nvSpPr>
        <p:spPr>
          <a:xfrm>
            <a:off x="714375" y="2276475"/>
            <a:ext cx="14859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专利/申请号</a:t>
            </a:r>
          </a:p>
        </p:txBody>
      </p:sp>
      <p:sp>
        <p:nvSpPr>
          <p:cNvPr id="10" name="t314">
            <a:extLst>
              <a:ext uri="{FF2B5EF4-FFF2-40B4-BE49-F238E27FC236}">
                <a16:creationId xmlns:a16="http://schemas.microsoft.com/office/drawing/2014/main" id="{09082118-7CF8-487A-A434-F7CD05EB1615}"/>
              </a:ext>
            </a:extLst>
          </p:cNvPr>
          <p:cNvSpPr>
            <a:spLocks noGrp="1"/>
          </p:cNvSpPr>
          <p:nvPr/>
        </p:nvSpPr>
        <p:spPr>
          <a:xfrm>
            <a:off x="714375" y="3009900"/>
            <a:ext cx="1485900" cy="1838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3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CN119207408A</a:t>
            </a:r>
          </a:p>
          <a:p>
            <a:pPr algn="l">
              <a:defRPr sz="13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202411348897.7</a:t>
            </a:r>
          </a:p>
        </p:txBody>
      </p:sp>
      <p:sp>
        <p:nvSpPr>
          <p:cNvPr id="11" name="l315">
            <a:extLst>
              <a:ext uri="{FF2B5EF4-FFF2-40B4-BE49-F238E27FC236}">
                <a16:creationId xmlns:a16="http://schemas.microsoft.com/office/drawing/2014/main" id="{AFD4F1B9-DEFE-4871-9810-E14B71E875AF}"/>
              </a:ext>
            </a:extLst>
          </p:cNvPr>
          <p:cNvSpPr>
            <a:spLocks noGrp="1"/>
          </p:cNvSpPr>
          <p:nvPr/>
        </p:nvSpPr>
        <p:spPr>
          <a:xfrm>
            <a:off x="2305050" y="2105025"/>
            <a:ext cx="0" cy="3114675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316">
            <a:extLst>
              <a:ext uri="{FF2B5EF4-FFF2-40B4-BE49-F238E27FC236}">
                <a16:creationId xmlns:a16="http://schemas.microsoft.com/office/drawing/2014/main" id="{099E6247-3572-48B6-9E8E-478263AD5707}"/>
              </a:ext>
            </a:extLst>
          </p:cNvPr>
          <p:cNvSpPr>
            <a:spLocks noGrp="1"/>
          </p:cNvSpPr>
          <p:nvPr/>
        </p:nvSpPr>
        <p:spPr>
          <a:xfrm>
            <a:off x="2409825" y="2276475"/>
            <a:ext cx="10953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申请日</a:t>
            </a:r>
          </a:p>
        </p:txBody>
      </p:sp>
      <p:sp>
        <p:nvSpPr>
          <p:cNvPr id="13" name="t317">
            <a:extLst>
              <a:ext uri="{FF2B5EF4-FFF2-40B4-BE49-F238E27FC236}">
                <a16:creationId xmlns:a16="http://schemas.microsoft.com/office/drawing/2014/main" id="{D13A555E-079B-49D2-BE9A-9906C9F48F20}"/>
              </a:ext>
            </a:extLst>
          </p:cNvPr>
          <p:cNvSpPr>
            <a:spLocks noGrp="1"/>
          </p:cNvSpPr>
          <p:nvPr/>
        </p:nvSpPr>
        <p:spPr>
          <a:xfrm>
            <a:off x="2409825" y="3009900"/>
            <a:ext cx="1095375" cy="1838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35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2024-09-26</a:t>
            </a:r>
          </a:p>
        </p:txBody>
      </p:sp>
      <p:sp>
        <p:nvSpPr>
          <p:cNvPr id="14" name="l318">
            <a:extLst>
              <a:ext uri="{FF2B5EF4-FFF2-40B4-BE49-F238E27FC236}">
                <a16:creationId xmlns:a16="http://schemas.microsoft.com/office/drawing/2014/main" id="{73F8ABC7-1119-45DF-B327-ACA47848FE4B}"/>
              </a:ext>
            </a:extLst>
          </p:cNvPr>
          <p:cNvSpPr>
            <a:spLocks noGrp="1"/>
          </p:cNvSpPr>
          <p:nvPr/>
        </p:nvSpPr>
        <p:spPr>
          <a:xfrm>
            <a:off x="3609975" y="2105025"/>
            <a:ext cx="0" cy="3114675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319">
            <a:extLst>
              <a:ext uri="{FF2B5EF4-FFF2-40B4-BE49-F238E27FC236}">
                <a16:creationId xmlns:a16="http://schemas.microsoft.com/office/drawing/2014/main" id="{F4D2EF4D-4059-4305-A593-59F2AC5A2E88}"/>
              </a:ext>
            </a:extLst>
          </p:cNvPr>
          <p:cNvSpPr>
            <a:spLocks noGrp="1"/>
          </p:cNvSpPr>
          <p:nvPr/>
        </p:nvSpPr>
        <p:spPr>
          <a:xfrm>
            <a:off x="3714750" y="2276475"/>
            <a:ext cx="14097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申请人</a:t>
            </a:r>
          </a:p>
        </p:txBody>
      </p:sp>
      <p:sp>
        <p:nvSpPr>
          <p:cNvPr id="16" name="t320">
            <a:extLst>
              <a:ext uri="{FF2B5EF4-FFF2-40B4-BE49-F238E27FC236}">
                <a16:creationId xmlns:a16="http://schemas.microsoft.com/office/drawing/2014/main" id="{82A32535-AB9C-405F-B414-DA332AF7A5A4}"/>
              </a:ext>
            </a:extLst>
          </p:cNvPr>
          <p:cNvSpPr>
            <a:spLocks noGrp="1"/>
          </p:cNvSpPr>
          <p:nvPr/>
        </p:nvSpPr>
        <p:spPr>
          <a:xfrm>
            <a:off x="3714750" y="3009900"/>
            <a:ext cx="1409700" cy="1838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35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北京汽车制造厂</a:t>
            </a:r>
          </a:p>
          <a:p>
            <a:pPr algn="l">
              <a:defRPr sz="135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（青岛）有限公司</a:t>
            </a:r>
          </a:p>
        </p:txBody>
      </p:sp>
      <p:sp>
        <p:nvSpPr>
          <p:cNvPr id="17" name="l321">
            <a:extLst>
              <a:ext uri="{FF2B5EF4-FFF2-40B4-BE49-F238E27FC236}">
                <a16:creationId xmlns:a16="http://schemas.microsoft.com/office/drawing/2014/main" id="{3DEDF6CB-D61A-4ABE-8B94-1BF910383097}"/>
              </a:ext>
            </a:extLst>
          </p:cNvPr>
          <p:cNvSpPr>
            <a:spLocks noGrp="1"/>
          </p:cNvSpPr>
          <p:nvPr/>
        </p:nvSpPr>
        <p:spPr>
          <a:xfrm>
            <a:off x="5229225" y="2105025"/>
            <a:ext cx="0" cy="3114675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322">
            <a:extLst>
              <a:ext uri="{FF2B5EF4-FFF2-40B4-BE49-F238E27FC236}">
                <a16:creationId xmlns:a16="http://schemas.microsoft.com/office/drawing/2014/main" id="{58A337E1-885D-4A1E-BF7C-BADF5081022E}"/>
              </a:ext>
            </a:extLst>
          </p:cNvPr>
          <p:cNvSpPr>
            <a:spLocks noGrp="1"/>
          </p:cNvSpPr>
          <p:nvPr/>
        </p:nvSpPr>
        <p:spPr>
          <a:xfrm>
            <a:off x="5334000" y="2276475"/>
            <a:ext cx="18669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发明名称</a:t>
            </a:r>
          </a:p>
        </p:txBody>
      </p:sp>
      <p:sp>
        <p:nvSpPr>
          <p:cNvPr id="19" name="t323">
            <a:extLst>
              <a:ext uri="{FF2B5EF4-FFF2-40B4-BE49-F238E27FC236}">
                <a16:creationId xmlns:a16="http://schemas.microsoft.com/office/drawing/2014/main" id="{E09F2899-6AF1-48DE-AB0C-40FF7EA18567}"/>
              </a:ext>
            </a:extLst>
          </p:cNvPr>
          <p:cNvSpPr>
            <a:spLocks noGrp="1"/>
          </p:cNvSpPr>
          <p:nvPr/>
        </p:nvSpPr>
        <p:spPr>
          <a:xfrm>
            <a:off x="5334000" y="3009900"/>
            <a:ext cx="1866900" cy="1838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35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一种用于多种任务场景的端云协同车载交互方法</a:t>
            </a:r>
          </a:p>
        </p:txBody>
      </p:sp>
      <p:sp>
        <p:nvSpPr>
          <p:cNvPr id="20" name="l324">
            <a:extLst>
              <a:ext uri="{FF2B5EF4-FFF2-40B4-BE49-F238E27FC236}">
                <a16:creationId xmlns:a16="http://schemas.microsoft.com/office/drawing/2014/main" id="{C0FFE5B7-C0AF-4F08-98DC-271E735D97E4}"/>
              </a:ext>
            </a:extLst>
          </p:cNvPr>
          <p:cNvSpPr>
            <a:spLocks noGrp="1"/>
          </p:cNvSpPr>
          <p:nvPr/>
        </p:nvSpPr>
        <p:spPr>
          <a:xfrm>
            <a:off x="7305675" y="2105025"/>
            <a:ext cx="0" cy="3114675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325">
            <a:extLst>
              <a:ext uri="{FF2B5EF4-FFF2-40B4-BE49-F238E27FC236}">
                <a16:creationId xmlns:a16="http://schemas.microsoft.com/office/drawing/2014/main" id="{F7ACCCD0-2177-45B3-8A53-C38F287A8F8A}"/>
              </a:ext>
            </a:extLst>
          </p:cNvPr>
          <p:cNvSpPr>
            <a:spLocks noGrp="1"/>
          </p:cNvSpPr>
          <p:nvPr/>
        </p:nvSpPr>
        <p:spPr>
          <a:xfrm>
            <a:off x="7410450" y="2276475"/>
            <a:ext cx="18859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主要内容</a:t>
            </a:r>
          </a:p>
        </p:txBody>
      </p:sp>
      <p:sp>
        <p:nvSpPr>
          <p:cNvPr id="22" name="t326">
            <a:extLst>
              <a:ext uri="{FF2B5EF4-FFF2-40B4-BE49-F238E27FC236}">
                <a16:creationId xmlns:a16="http://schemas.microsoft.com/office/drawing/2014/main" id="{A6FF8588-5CCA-43D3-B7D1-3DEF620D08C4}"/>
              </a:ext>
            </a:extLst>
          </p:cNvPr>
          <p:cNvSpPr>
            <a:spLocks noGrp="1"/>
          </p:cNvSpPr>
          <p:nvPr/>
        </p:nvSpPr>
        <p:spPr>
          <a:xfrm>
            <a:off x="7410450" y="3009900"/>
            <a:ext cx="1885950" cy="1838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35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按任务置信度选择本地处理或交给云端规划；云端分解子任务后下发车端执行。</a:t>
            </a:r>
          </a:p>
        </p:txBody>
      </p:sp>
      <p:sp>
        <p:nvSpPr>
          <p:cNvPr id="23" name="l327">
            <a:extLst>
              <a:ext uri="{FF2B5EF4-FFF2-40B4-BE49-F238E27FC236}">
                <a16:creationId xmlns:a16="http://schemas.microsoft.com/office/drawing/2014/main" id="{B2346C28-A107-497A-9462-C12A9438F715}"/>
              </a:ext>
            </a:extLst>
          </p:cNvPr>
          <p:cNvSpPr>
            <a:spLocks noGrp="1"/>
          </p:cNvSpPr>
          <p:nvPr/>
        </p:nvSpPr>
        <p:spPr>
          <a:xfrm>
            <a:off x="9401175" y="2105025"/>
            <a:ext cx="0" cy="3114675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328">
            <a:extLst>
              <a:ext uri="{FF2B5EF4-FFF2-40B4-BE49-F238E27FC236}">
                <a16:creationId xmlns:a16="http://schemas.microsoft.com/office/drawing/2014/main" id="{B59A097D-84BB-46E4-930C-2E431A411FC6}"/>
              </a:ext>
            </a:extLst>
          </p:cNvPr>
          <p:cNvSpPr>
            <a:spLocks noGrp="1"/>
          </p:cNvSpPr>
          <p:nvPr/>
        </p:nvSpPr>
        <p:spPr>
          <a:xfrm>
            <a:off x="9505950" y="2276475"/>
            <a:ext cx="19716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与本发明不同之处</a:t>
            </a:r>
          </a:p>
        </p:txBody>
      </p:sp>
      <p:sp>
        <p:nvSpPr>
          <p:cNvPr id="25" name="t329">
            <a:extLst>
              <a:ext uri="{FF2B5EF4-FFF2-40B4-BE49-F238E27FC236}">
                <a16:creationId xmlns:a16="http://schemas.microsoft.com/office/drawing/2014/main" id="{71EBB683-A460-40DD-B476-C6B8912E3639}"/>
              </a:ext>
            </a:extLst>
          </p:cNvPr>
          <p:cNvSpPr>
            <a:spLocks noGrp="1"/>
          </p:cNvSpPr>
          <p:nvPr/>
        </p:nvSpPr>
        <p:spPr>
          <a:xfrm>
            <a:off x="9505950" y="3009900"/>
            <a:ext cx="1971675" cy="1838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350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逐步验证车端工具提议；不通过时云端接管本步推理与调用。两端在同一环境推进任务。</a:t>
            </a:r>
          </a:p>
        </p:txBody>
      </p:sp>
      <p:sp>
        <p:nvSpPr>
          <p:cNvPr id="26" name="l330">
            <a:extLst>
              <a:ext uri="{FF2B5EF4-FFF2-40B4-BE49-F238E27FC236}">
                <a16:creationId xmlns:a16="http://schemas.microsoft.com/office/drawing/2014/main" id="{07F8EA3E-D6B4-4C01-B88C-8212A5F67250}"/>
              </a:ext>
            </a:extLst>
          </p:cNvPr>
          <p:cNvSpPr>
            <a:spLocks noGrp="1"/>
          </p:cNvSpPr>
          <p:nvPr/>
        </p:nvSpPr>
        <p:spPr>
          <a:xfrm>
            <a:off x="609600" y="2886075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l331">
            <a:extLst>
              <a:ext uri="{FF2B5EF4-FFF2-40B4-BE49-F238E27FC236}">
                <a16:creationId xmlns:a16="http://schemas.microsoft.com/office/drawing/2014/main" id="{0711C1C8-F4F1-4089-8D62-8F61E1EA4494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332">
            <a:extLst>
              <a:ext uri="{FF2B5EF4-FFF2-40B4-BE49-F238E27FC236}">
                <a16:creationId xmlns:a16="http://schemas.microsoft.com/office/drawing/2014/main" id="{00029812-E189-46E0-B15E-32C31BA82719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109728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对比焦点：任务级分流规划与逐步验证、云端接管本步调用的区别。</a:t>
            </a:r>
          </a:p>
        </p:txBody>
      </p:sp>
      <p:sp>
        <p:nvSpPr>
          <p:cNvPr id="29" name="t333">
            <a:extLst>
              <a:ext uri="{FF2B5EF4-FFF2-40B4-BE49-F238E27FC236}">
                <a16:creationId xmlns:a16="http://schemas.microsoft.com/office/drawing/2014/main" id="{552E2EEF-6369-4CDC-B1E4-A2644E962313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[P1] CN119207408A，公开日 2024-12-27；对比以公开文本为准。</a:t>
            </a:r>
          </a:p>
        </p:txBody>
      </p:sp>
    </p:spTree>
    <p:extLst>
      <p:ext uri="{BB962C8B-B14F-4D97-AF65-F5344CB8AC3E}">
        <p14:creationId xmlns:p14="http://schemas.microsoft.com/office/powerpoint/2010/main" val="272312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334">
            <a:extLst>
              <a:ext uri="{FF2B5EF4-FFF2-40B4-BE49-F238E27FC236}">
                <a16:creationId xmlns:a16="http://schemas.microsoft.com/office/drawing/2014/main" id="{C65FE097-AFD3-449B-8522-7F71571BBE5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附录  参考与边界</a:t>
            </a:r>
          </a:p>
        </p:txBody>
      </p:sp>
      <p:sp>
        <p:nvSpPr>
          <p:cNvPr id="2" name="t335">
            <a:extLst>
              <a:ext uri="{FF2B5EF4-FFF2-40B4-BE49-F238E27FC236}">
                <a16:creationId xmlns:a16="http://schemas.microsoft.com/office/drawing/2014/main" id="{370B712A-C54F-4CD1-90C8-6A60587CDA8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参考文献与待验证事项</a:t>
            </a:r>
          </a:p>
        </p:txBody>
      </p:sp>
      <p:sp>
        <p:nvSpPr>
          <p:cNvPr id="3" name="t336">
            <a:extLst>
              <a:ext uri="{FF2B5EF4-FFF2-40B4-BE49-F238E27FC236}">
                <a16:creationId xmlns:a16="http://schemas.microsoft.com/office/drawing/2014/main" id="{0A14024A-2576-484E-B4AA-735710A1CED8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文献比较围绕单步 Agent 验证、云端接管和同一环境协作。</a:t>
            </a:r>
          </a:p>
        </p:txBody>
      </p:sp>
      <p:sp>
        <p:nvSpPr>
          <p:cNvPr id="4" name="l337">
            <a:extLst>
              <a:ext uri="{FF2B5EF4-FFF2-40B4-BE49-F238E27FC236}">
                <a16:creationId xmlns:a16="http://schemas.microsoft.com/office/drawing/2014/main" id="{230931FF-B587-4BCA-A71D-83CFDEB94220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338">
            <a:extLst>
              <a:ext uri="{FF2B5EF4-FFF2-40B4-BE49-F238E27FC236}">
                <a16:creationId xmlns:a16="http://schemas.microsoft.com/office/drawing/2014/main" id="{E2F3D343-33E2-43D2-A3C8-1F6CE255BAE3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339">
            <a:extLst>
              <a:ext uri="{FF2B5EF4-FFF2-40B4-BE49-F238E27FC236}">
                <a16:creationId xmlns:a16="http://schemas.microsoft.com/office/drawing/2014/main" id="{B17124FE-2E0D-4C0A-A312-FCE59D9FD06C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7" name="l340">
            <a:extLst>
              <a:ext uri="{FF2B5EF4-FFF2-40B4-BE49-F238E27FC236}">
                <a16:creationId xmlns:a16="http://schemas.microsoft.com/office/drawing/2014/main" id="{F377BAA8-B727-4A86-B43B-4B8BAC3A68A5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341">
            <a:extLst>
              <a:ext uri="{FF2B5EF4-FFF2-40B4-BE49-F238E27FC236}">
                <a16:creationId xmlns:a16="http://schemas.microsoft.com/office/drawing/2014/main" id="{9C118CD3-4CEE-4A7C-B39D-092728621B57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575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[P1] 北京汽车制造厂（青岛）有限公司. 一种用于多种任务场景的端云协同车载交互方法: CN119207408A[P]. 2024-12-27.</a:t>
            </a:r>
          </a:p>
        </p:txBody>
      </p:sp>
      <p:sp>
        <p:nvSpPr>
          <p:cNvPr id="9" name="l342">
            <a:extLst>
              <a:ext uri="{FF2B5EF4-FFF2-40B4-BE49-F238E27FC236}">
                <a16:creationId xmlns:a16="http://schemas.microsoft.com/office/drawing/2014/main" id="{ADFBAB69-B731-422B-9E3B-39B63813743F}"/>
              </a:ext>
            </a:extLst>
          </p:cNvPr>
          <p:cNvSpPr>
            <a:spLocks noGrp="1"/>
          </p:cNvSpPr>
          <p:nvPr/>
        </p:nvSpPr>
        <p:spPr>
          <a:xfrm>
            <a:off x="609600" y="3152775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343">
            <a:extLst>
              <a:ext uri="{FF2B5EF4-FFF2-40B4-BE49-F238E27FC236}">
                <a16:creationId xmlns:a16="http://schemas.microsoft.com/office/drawing/2014/main" id="{7FCAB40A-4F6B-4F3E-8A9A-8696E9BF99E0}"/>
              </a:ext>
            </a:extLst>
          </p:cNvPr>
          <p:cNvSpPr>
            <a:spLocks noGrp="1"/>
          </p:cNvSpPr>
          <p:nvPr/>
        </p:nvSpPr>
        <p:spPr>
          <a:xfrm>
            <a:off x="609600" y="328612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575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[P2] VEGA A, BOSE P, BUYUKTOSUNOGLU A. Adaptive multi-agent cooperative computation and inference: US20190392333A1[P]. 2019-12-26.</a:t>
            </a:r>
          </a:p>
        </p:txBody>
      </p:sp>
      <p:sp>
        <p:nvSpPr>
          <p:cNvPr id="11" name="l344">
            <a:extLst>
              <a:ext uri="{FF2B5EF4-FFF2-40B4-BE49-F238E27FC236}">
                <a16:creationId xmlns:a16="http://schemas.microsoft.com/office/drawing/2014/main" id="{5C9F212E-529A-43FA-A07D-E7FCCD0BD976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345">
            <a:extLst>
              <a:ext uri="{FF2B5EF4-FFF2-40B4-BE49-F238E27FC236}">
                <a16:creationId xmlns:a16="http://schemas.microsoft.com/office/drawing/2014/main" id="{5EA542C9-3FB0-472F-A25F-8AF599456230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575" b="0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[1] WEI J, NI K, ZHAO Y, et al. Step-level Optimization for Efficient Computer-use Agents[EB/OL]. arXiv:2604.27151v1, 2026-04-29.</a:t>
            </a:r>
          </a:p>
        </p:txBody>
      </p:sp>
      <p:sp>
        <p:nvSpPr>
          <p:cNvPr id="13" name="l346">
            <a:extLst>
              <a:ext uri="{FF2B5EF4-FFF2-40B4-BE49-F238E27FC236}">
                <a16:creationId xmlns:a16="http://schemas.microsoft.com/office/drawing/2014/main" id="{3164CBAF-5566-4348-857B-CFA093833905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347">
            <a:extLst>
              <a:ext uri="{FF2B5EF4-FFF2-40B4-BE49-F238E27FC236}">
                <a16:creationId xmlns:a16="http://schemas.microsoft.com/office/drawing/2014/main" id="{27FE8C82-A6D9-4BCE-B31E-A8CD2F4B9475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仍需验证：判断准确性、REPAIR 成功率、任务质量、端云总成本与网络时延。</a:t>
            </a:r>
          </a:p>
        </p:txBody>
      </p:sp>
    </p:spTree>
    <p:extLst>
      <p:ext uri="{BB962C8B-B14F-4D97-AF65-F5344CB8AC3E}">
        <p14:creationId xmlns:p14="http://schemas.microsoft.com/office/powerpoint/2010/main" val="1323823399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182">
            <a:extLst>
              <a:ext uri="{FF2B5EF4-FFF2-40B4-BE49-F238E27FC236}">
                <a16:creationId xmlns:a16="http://schemas.microsoft.com/office/drawing/2014/main" id="{FD6296F3-56A5-4038-8620-4196CEBCDF4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04  本 IDEA 发明的技术保护点 · 侵权取证</a:t>
            </a:r>
          </a:p>
        </p:txBody>
      </p:sp>
      <p:sp>
        <p:nvSpPr>
          <p:cNvPr id="2" name="t183">
            <a:extLst>
              <a:ext uri="{FF2B5EF4-FFF2-40B4-BE49-F238E27FC236}">
                <a16:creationId xmlns:a16="http://schemas.microsoft.com/office/drawing/2014/main" id="{4E0FE5DA-88EB-4AF8-933C-C81FD37C18B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侵权取证（一）：场景构造与黑盒测试</a:t>
            </a:r>
          </a:p>
        </p:txBody>
      </p:sp>
      <p:sp>
        <p:nvSpPr>
          <p:cNvPr id="3" name="t184">
            <a:extLst>
              <a:ext uri="{FF2B5EF4-FFF2-40B4-BE49-F238E27FC236}">
                <a16:creationId xmlns:a16="http://schemas.microsoft.com/office/drawing/2014/main" id="{09CEED03-22F8-488C-B4C2-7BB95B288AD3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以公开渠道购得的友商量产车为对象，用“陷阱步”诱导车端出错，对照在线 / 离线、加时延 / 断云下的行为差异。</a:t>
            </a:r>
          </a:p>
        </p:txBody>
      </p:sp>
      <p:sp>
        <p:nvSpPr>
          <p:cNvPr id="4" name="l185">
            <a:extLst>
              <a:ext uri="{FF2B5EF4-FFF2-40B4-BE49-F238E27FC236}">
                <a16:creationId xmlns:a16="http://schemas.microsoft.com/office/drawing/2014/main" id="{29C83893-CBEE-4471-A435-86DCA6C5F0A3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186">
            <a:extLst>
              <a:ext uri="{FF2B5EF4-FFF2-40B4-BE49-F238E27FC236}">
                <a16:creationId xmlns:a16="http://schemas.microsoft.com/office/drawing/2014/main" id="{9F8CF385-D3DC-4E8A-BEB3-522AB8D97B2B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187">
            <a:extLst>
              <a:ext uri="{FF2B5EF4-FFF2-40B4-BE49-F238E27FC236}">
                <a16:creationId xmlns:a16="http://schemas.microsoft.com/office/drawing/2014/main" id="{565A39F6-561B-4081-97CF-30C0838EA07B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9" name="l189">
            <a:extLst>
              <a:ext uri="{FF2B5EF4-FFF2-40B4-BE49-F238E27FC236}">
                <a16:creationId xmlns:a16="http://schemas.microsoft.com/office/drawing/2014/main" id="{9C1E0CB6-813C-4F11-AF26-8C957EED830D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190">
            <a:extLst>
              <a:ext uri="{FF2B5EF4-FFF2-40B4-BE49-F238E27FC236}">
                <a16:creationId xmlns:a16="http://schemas.microsoft.com/office/drawing/2014/main" id="{F7AB8E3C-7D37-48E1-9232-407AC0801EC1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区分本方案与路由、级联、纯云端方案的关键：同一指令在离线 / 在线、有无时延、有无断云条件下的逐步差异。</a:t>
            </a:r>
          </a:p>
        </p:txBody>
      </p:sp>
      <p:sp>
        <p:nvSpPr>
          <p:cNvPr id="21" name="env_box">
            <a:extLst>
              <a:ext uri="{FF2B5EF4-FFF2-40B4-BE49-F238E27FC236}">
                <a16:creationId xmlns:a16="http://schemas.microsoft.com/office/drawing/2014/main" id="{C0E4A532-7F1F-49A5-8540-5A6DB7EF4B70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0972800" cy="830000"/>
          </a:xfrm>
          <a:prstGeom prst="rect">
            <a:avLst/>
          </a:prstGeom>
          <a:solidFill>
            <a:srgbClr val="F6F6F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env_line">
            <a:extLst>
              <a:ext uri="{FF2B5EF4-FFF2-40B4-BE49-F238E27FC236}">
                <a16:creationId xmlns:a16="http://schemas.microsoft.com/office/drawing/2014/main" id="{CC2B3FEA-5D67-4E44-A89C-DF668D4511B2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env_label">
            <a:extLst>
              <a:ext uri="{FF2B5EF4-FFF2-40B4-BE49-F238E27FC236}">
                <a16:creationId xmlns:a16="http://schemas.microsoft.com/office/drawing/2014/main" id="{09CEED03-22F8-488C-B4C2-7BB95B288AD3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1066800" cy="83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测试准备</a:t>
            </a:r>
          </a:p>
        </p:txBody>
      </p:sp>
      <p:sp>
        <p:nvSpPr>
          <p:cNvPr id="3" name="env0">
            <a:extLst>
              <a:ext uri="{FF2B5EF4-FFF2-40B4-BE49-F238E27FC236}">
                <a16:creationId xmlns:a16="http://schemas.microsoft.com/office/drawing/2014/main" id="{09CEED03-22F8-488C-B4C2-7BB95B288AD3}"/>
              </a:ext>
            </a:extLst>
          </p:cNvPr>
          <p:cNvSpPr>
            <a:spLocks noGrp="1"/>
          </p:cNvSpPr>
          <p:nvPr/>
        </p:nvSpPr>
        <p:spPr>
          <a:xfrm>
            <a:off x="1905000" y="1926900"/>
            <a:ext cx="2305050" cy="74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spcAft>
                <a:spcPts val="200"/>
              </a:spcAft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10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取证对象</a:t>
            </a:r>
          </a:p>
          <a:p>
            <a:pPr algn="l">
              <a:spcAft>
                <a:spcPts val="200"/>
              </a:spcAft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1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公开购车或租车；记录车型、车机与 OTA 版本、账号；公证处全程公证</a:t>
            </a:r>
          </a:p>
        </p:txBody>
      </p:sp>
      <p:sp>
        <p:nvSpPr>
          <p:cNvPr id="3" name="env1">
            <a:extLst>
              <a:ext uri="{FF2B5EF4-FFF2-40B4-BE49-F238E27FC236}">
                <a16:creationId xmlns:a16="http://schemas.microsoft.com/office/drawing/2014/main" id="{09CEED03-22F8-488C-B4C2-7BB95B288AD3}"/>
              </a:ext>
            </a:extLst>
          </p:cNvPr>
          <p:cNvSpPr>
            <a:spLocks noGrp="1"/>
          </p:cNvSpPr>
          <p:nvPr/>
        </p:nvSpPr>
        <p:spPr>
          <a:xfrm>
            <a:off x="4324350" y="1926900"/>
            <a:ext cx="2305050" cy="74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spcAft>
                <a:spcPts val="200"/>
              </a:spcAft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10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网络观测</a:t>
            </a:r>
          </a:p>
          <a:p>
            <a:pPr algn="l">
              <a:spcAft>
                <a:spcPts val="200"/>
              </a:spcAft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1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车机连受控 Wi-Fi 或外置基站；镜像抓包，记录时间戳、包长、域名</a:t>
            </a:r>
          </a:p>
        </p:txBody>
      </p:sp>
      <p:sp>
        <p:nvSpPr>
          <p:cNvPr id="3" name="env2">
            <a:extLst>
              <a:ext uri="{FF2B5EF4-FFF2-40B4-BE49-F238E27FC236}">
                <a16:creationId xmlns:a16="http://schemas.microsoft.com/office/drawing/2014/main" id="{09CEED03-22F8-488C-B4C2-7BB95B288AD3}"/>
              </a:ext>
            </a:extLst>
          </p:cNvPr>
          <p:cNvSpPr>
            <a:spLocks noGrp="1"/>
          </p:cNvSpPr>
          <p:nvPr/>
        </p:nvSpPr>
        <p:spPr>
          <a:xfrm>
            <a:off x="6743700" y="1926900"/>
            <a:ext cx="2305050" cy="74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spcAft>
                <a:spcPts val="200"/>
              </a:spcAft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10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网络控制</a:t>
            </a:r>
          </a:p>
          <a:p>
            <a:pPr algn="l">
              <a:spcAft>
                <a:spcPts val="200"/>
              </a:spcAft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1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路由器上实施断网、限速和定量时延注入（如 tc netem 上行 +2 s）</a:t>
            </a:r>
          </a:p>
        </p:txBody>
      </p:sp>
      <p:sp>
        <p:nvSpPr>
          <p:cNvPr id="3" name="env3">
            <a:extLst>
              <a:ext uri="{FF2B5EF4-FFF2-40B4-BE49-F238E27FC236}">
                <a16:creationId xmlns:a16="http://schemas.microsoft.com/office/drawing/2014/main" id="{09CEED03-22F8-488C-B4C2-7BB95B288AD3}"/>
              </a:ext>
            </a:extLst>
          </p:cNvPr>
          <p:cNvSpPr>
            <a:spLocks noGrp="1"/>
          </p:cNvSpPr>
          <p:nvPr/>
        </p:nvSpPr>
        <p:spPr>
          <a:xfrm>
            <a:off x="9163050" y="1926900"/>
            <a:ext cx="2305050" cy="74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spcAft>
                <a:spcPts val="200"/>
              </a:spcAft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10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同步记录</a:t>
            </a:r>
          </a:p>
          <a:p>
            <a:pPr algn="l">
              <a:spcAft>
                <a:spcPts val="200"/>
              </a:spcAft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1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屏幕录像、车内摄像与语音录音，统一 NTP 时钟，便于与抓包逐步对齐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AE41645-1AAC-47BF-989D-69A361A9EA20}"/>
              </a:ext>
            </a:extLst>
          </p:cNvPr>
          <p:cNvGraphicFramePr/>
          <p:nvPr/>
        </p:nvGraphicFramePr>
        <p:xfrm>
          <a:off x="609600" y="2849880"/>
          <a:ext cx="10972800" cy="26600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anchor="ctr" marL="72000" marR="72000" marT="36000" marB="36000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构造方法</a:t>
                      </a:r>
                    </a:p>
                  </a:txBody>
                  <a:tcPr anchor="ctr" marL="72000" marR="72000" marT="36000" marB="36000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测试操作</a:t>
                      </a:r>
                    </a:p>
                  </a:txBody>
                  <a:tcPr anchor="ctr" marL="72000" marR="72000" marT="36000" marB="36000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重点观察</a:t>
                      </a:r>
                    </a:p>
                  </a:txBody>
                  <a:tcPr anchor="ctr" marL="72000" marR="72000" marT="36000" marB="36000">
                    <a:solidFill>
                      <a:srgbClr val="F6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S1 陷阱步对照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B616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（核心场景）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选“最近站不可用”路段：事先用充电 App 确认最近站 A 故障 / 占用 / 接口不兼容，次近站 B 空闲可达、绕行 ≤ 10 分钟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语音下达“找沿途空闲快充站，绕行不超过 10 分钟并导航”；在线、离线各 ≥ 20 次，更换 ≥ 3 个路段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离线是否导航至 A、在线是否导航至 B；纠正发生在哪一步；前序站点查询是否重做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S2 逐步时延注入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4–6 步纯座舱工具任务：“座椅加热二档、空调 22 度、打开香氛、播放上次歌单”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 → 上行注入 Δ = 2 s → Δ = 4 s，每组 ≥ 10 次；逐条标注每个动作的生效时刻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每个工具动作是否各自后移约 Δ（逐步验证），还是仅首个动作后移一次（请求级路由）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S3 中途断云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沿用 S1 / S2 任务；以抓包中出现第 k 步上行请求为触发点，在动作生效前切断上行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分别在第 1、2、3 步断云，30 s 后恢复网络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车端是否不执行本步候选、改为暂停 / 提示 / 重试（不默认放行）；恢复后是否从该步续做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S4 修复后续接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S1 在线纠正为站点 B 后立即断网，再追加指令“顺路找一家咖啡店”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观察后续多步执行过程，并与未纠正时对照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断网后车端能否基于“已导航至 B”的真实状态继续提议并执行下一步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182">
            <a:extLst>
              <a:ext uri="{FF2B5EF4-FFF2-40B4-BE49-F238E27FC236}">
                <a16:creationId xmlns:a16="http://schemas.microsoft.com/office/drawing/2014/main" id="{FD6296F3-56A5-4038-8620-4196CEBCDF4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04  本 IDEA 发明的技术保护点 · 侵权取证</a:t>
            </a:r>
          </a:p>
        </p:txBody>
      </p:sp>
      <p:sp>
        <p:nvSpPr>
          <p:cNvPr id="2" name="t183">
            <a:extLst>
              <a:ext uri="{FF2B5EF4-FFF2-40B4-BE49-F238E27FC236}">
                <a16:creationId xmlns:a16="http://schemas.microsoft.com/office/drawing/2014/main" id="{4E0FE5DA-88EB-4AF8-933C-C81FD37C18B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侵权取证（二）：观察结果与侵权判定</a:t>
            </a:r>
          </a:p>
        </p:txBody>
      </p:sp>
      <p:sp>
        <p:nvSpPr>
          <p:cNvPr id="3" name="t184">
            <a:extLst>
              <a:ext uri="{FF2B5EF4-FFF2-40B4-BE49-F238E27FC236}">
                <a16:creationId xmlns:a16="http://schemas.microsoft.com/office/drawing/2014/main" id="{09CEED03-22F8-488C-B4C2-7BB95B288AD3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按技术特征逐一对应可观察现象；全部特征均有证据支撑且排除替代方案，方可主张落入保护范围（全面覆盖原则）。</a:t>
            </a:r>
          </a:p>
        </p:txBody>
      </p:sp>
      <p:sp>
        <p:nvSpPr>
          <p:cNvPr id="4" name="l185">
            <a:extLst>
              <a:ext uri="{FF2B5EF4-FFF2-40B4-BE49-F238E27FC236}">
                <a16:creationId xmlns:a16="http://schemas.microsoft.com/office/drawing/2014/main" id="{29C83893-CBEE-4471-A435-86DCA6C5F0A3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186">
            <a:extLst>
              <a:ext uri="{FF2B5EF4-FFF2-40B4-BE49-F238E27FC236}">
                <a16:creationId xmlns:a16="http://schemas.microsoft.com/office/drawing/2014/main" id="{9F8CF385-D3DC-4E8A-BEB3-522AB8D97B2B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187">
            <a:extLst>
              <a:ext uri="{FF2B5EF4-FFF2-40B4-BE49-F238E27FC236}">
                <a16:creationId xmlns:a16="http://schemas.microsoft.com/office/drawing/2014/main" id="{565A39F6-561B-4081-97CF-30C0838EA07B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9" name="l189">
            <a:extLst>
              <a:ext uri="{FF2B5EF4-FFF2-40B4-BE49-F238E27FC236}">
                <a16:creationId xmlns:a16="http://schemas.microsoft.com/office/drawing/2014/main" id="{9C1E0CB6-813C-4F11-AF26-8C957EED830D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190">
            <a:extLst>
              <a:ext uri="{FF2B5EF4-FFF2-40B4-BE49-F238E27FC236}">
                <a16:creationId xmlns:a16="http://schemas.microsoft.com/office/drawing/2014/main" id="{F7AB8E3C-7D37-48E1-9232-407AC0801EC1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五项特征均有对应观察并排除替代方案，可主张侵权；任一特征缺证，仅作线索，转入证据保全。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AE41645-1AAC-47BF-989D-69A361A9EA20}"/>
              </a:ext>
            </a:extLst>
          </p:cNvPr>
          <p:cNvGraphicFramePr/>
          <p:nvPr/>
        </p:nvGraphicFramePr>
        <p:xfrm>
          <a:off x="609600" y="1866900"/>
          <a:ext cx="10972800" cy="32200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技术特征</a:t>
                      </a:r>
                    </a:p>
                  </a:txBody>
                  <a:tcPr anchor="ctr" marL="72000" marR="72000" marT="36000" marB="36000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判为侵权的观察结果（建议阈值）</a:t>
                      </a:r>
                    </a:p>
                  </a:txBody>
                  <a:tcPr anchor="ctr" marL="72000" marR="72000" marT="36000" marB="36000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证据形式</a:t>
                      </a:r>
                    </a:p>
                  </a:txBody>
                  <a:tcPr anchor="ctr" marL="72000" marR="72000" marT="36000" marB="36000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可排除的替代方案</a:t>
                      </a:r>
                    </a:p>
                  </a:txBody>
                  <a:tcPr anchor="ctr" marL="72000" marR="72000" marT="36000" marB="36000">
                    <a:solidFill>
                      <a:srgbClr val="F6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 车端逐步提出工具调用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离线时车机仍能完成多步工具调用；在线时每个工具动作前均有一次上行，包长随候选调用参数长短变化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离线录屏；逐步上行包长统计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纯云端逐步生成（离线应无法执行）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② 云端逐步验证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每个工具动作前都有一次云端往返，往返次数 = 工具步数；S2 中每步生效时刻均后移约 Δ（偏差 &lt; 10%）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抓包时序图与动作时刻对齐表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请求级路由、级联、并行双发（只后移一次）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 不通过时云端接管本步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S1 离线导航至 A、在线导航至 B（如在线纠正率 ≥ 80%，离线 ≤ 20%）；纠正步下行包与往返时长显著大于通过步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在线 / 离线对照录屏与统计表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车端自我纠错（离线时也应纠正）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④ 同一环境，车端候选未执行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在线纠正时地图从未出现“前往 A”的路线或播报；站点与路线查询不重复发起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逐帧录屏；车机端可导出的日志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先执行后回滚；云端另起环境重做整个任务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⑤ 真实结果回写，车端续接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S4 断网后车端仍以 B 为当前状态继续下一步；S3 断云时本步候选不被放行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录屏与抓包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云端接管剩余全部步骤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note_box">
            <a:extLst>
              <a:ext uri="{FF2B5EF4-FFF2-40B4-BE49-F238E27FC236}">
                <a16:creationId xmlns:a16="http://schemas.microsoft.com/office/drawing/2014/main" id="{C0E4A532-7F1F-49A5-8540-5A6DB7EF4B70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640080"/>
          </a:xfrm>
          <a:prstGeom prst="rect">
            <a:avLst/>
          </a:prstGeom>
          <a:solidFill>
            <a:srgbClr val="F6F6F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note_line">
            <a:extLst>
              <a:ext uri="{FF2B5EF4-FFF2-40B4-BE49-F238E27FC236}">
                <a16:creationId xmlns:a16="http://schemas.microsoft.com/office/drawing/2014/main" id="{CC2B3FEA-5D67-4E44-A89C-DF668D4511B2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note_text">
            <a:extLst>
              <a:ext uri="{FF2B5EF4-FFF2-40B4-BE49-F238E27FC236}">
                <a16:creationId xmlns:a16="http://schemas.microsoft.com/office/drawing/2014/main" id="{09CEED03-22F8-488C-B4C2-7BB95B288AD3}"/>
              </a:ext>
            </a:extLst>
          </p:cNvPr>
          <p:cNvSpPr>
            <a:spLocks noGrp="1"/>
          </p:cNvSpPr>
          <p:nvPr/>
        </p:nvSpPr>
        <p:spPr>
          <a:xfrm>
            <a:off x="762000" y="5212080"/>
            <a:ext cx="10668000" cy="58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spcAft>
                <a:spcPts val="200"/>
              </a:spcAft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10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黑盒结果只能形成高度盖然的推定。</a:t>
            </a:r>
            <a:r>
              <a:rPr sz="11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云端 ACCEPT / REPAIR 字段与源代码需经诉前证据保全（专利法第七十三条）、调查令或技术调查官获取后比对。</a:t>
            </a:r>
          </a:p>
          <a:p>
            <a:pPr algn="l">
              <a:spcAft>
                <a:spcPts val="200"/>
              </a:spcAft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10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辅证渠道：</a:t>
            </a:r>
            <a:r>
              <a:rPr sz="11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友商专利与论文、发布会与白皮书、开发者文档、隐私政策中“上传云端校验”类描述、OTA 说明、招聘 JD。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t182">
            <a:extLst>
              <a:ext uri="{FF2B5EF4-FFF2-40B4-BE49-F238E27FC236}">
                <a16:creationId xmlns:a16="http://schemas.microsoft.com/office/drawing/2014/main" id="{FD6296F3-56A5-4038-8620-4196CEBCDF4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7192B"/>
                </a:solidFill>
                <a:latin typeface="PingFang SC"/>
                <a:ea typeface="PingFang SC"/>
                <a:cs typeface="PingFang SC"/>
              </a:rPr>
              <a:t>06  文献分析</a:t>
            </a:r>
          </a:p>
        </p:txBody>
      </p:sp>
      <p:sp>
        <p:nvSpPr>
          <p:cNvPr id="2" name="t183">
            <a:extLst>
              <a:ext uri="{FF2B5EF4-FFF2-40B4-BE49-F238E27FC236}">
                <a16:creationId xmlns:a16="http://schemas.microsoft.com/office/drawing/2014/main" id="{4E0FE5DA-88EB-4AF8-933C-C81FD37C18B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B1B1D"/>
                </a:solidFill>
                <a:latin typeface="PingFang SC"/>
                <a:ea typeface="PingFang SC"/>
                <a:cs typeface="PingFang SC"/>
              </a:rPr>
              <a:t>在先公开对比文件的检索情况</a:t>
            </a:r>
          </a:p>
        </p:txBody>
      </p:sp>
      <p:sp>
        <p:nvSpPr>
          <p:cNvPr id="3" name="t184">
            <a:extLst>
              <a:ext uri="{FF2B5EF4-FFF2-40B4-BE49-F238E27FC236}">
                <a16:creationId xmlns:a16="http://schemas.microsoft.com/office/drawing/2014/main" id="{09CEED03-22F8-488C-B4C2-7BB95B288AD3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检索日 2026-10-22；每个网站只用一条检索式，文献须同时满足全部 5 组关键词。</a:t>
            </a:r>
          </a:p>
        </p:txBody>
      </p:sp>
      <p:sp>
        <p:nvSpPr>
          <p:cNvPr id="4" name="l185">
            <a:extLst>
              <a:ext uri="{FF2B5EF4-FFF2-40B4-BE49-F238E27FC236}">
                <a16:creationId xmlns:a16="http://schemas.microsoft.com/office/drawing/2014/main" id="{29C83893-CBEE-4471-A435-86DCA6C5F0A3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0"/>
          </a:xfrm>
          <a:prstGeom prst="line">
            <a:avLst/>
          </a:prstGeom>
          <a:noFill/>
          <a:ln w="9525">
            <a:solidFill>
              <a:srgbClr val="D7D8D9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186">
            <a:extLst>
              <a:ext uri="{FF2B5EF4-FFF2-40B4-BE49-F238E27FC236}">
                <a16:creationId xmlns:a16="http://schemas.microsoft.com/office/drawing/2014/main" id="{9F8CF385-D3DC-4E8A-BEB3-522AB8D97B2B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933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车载智能座舱 Agent 端云协同  /  发明专利申请</a:t>
            </a:r>
          </a:p>
        </p:txBody>
      </p:sp>
      <p:sp>
        <p:nvSpPr>
          <p:cNvPr id="6" name="t187">
            <a:extLst>
              <a:ext uri="{FF2B5EF4-FFF2-40B4-BE49-F238E27FC236}">
                <a16:creationId xmlns:a16="http://schemas.microsoft.com/office/drawing/2014/main" id="{565A39F6-561B-4081-97CF-30C0838EA07B}"/>
              </a:ext>
            </a:extLst>
          </p:cNvPr>
          <p:cNvSpPr>
            <a:spLocks noGrp="1"/>
          </p:cNvSpPr>
          <p:nvPr/>
        </p:nvSpPr>
        <p:spPr>
          <a:xfrm>
            <a:off x="11029950" y="64579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r">
              <a:def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166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9" name="l189">
            <a:extLst>
              <a:ext uri="{FF2B5EF4-FFF2-40B4-BE49-F238E27FC236}">
                <a16:creationId xmlns:a16="http://schemas.microsoft.com/office/drawing/2014/main" id="{9C1E0CB6-813C-4F11-AF26-8C957EED830D}"/>
              </a:ext>
            </a:extLst>
          </p:cNvPr>
          <p:cNvSpPr>
            <a:spLocks noGrp="1"/>
          </p:cNvSpPr>
          <p:nvPr/>
        </p:nvSpPr>
        <p:spPr>
          <a:xfrm>
            <a:off x="609600" y="5974080"/>
            <a:ext cx="10972800" cy="0"/>
          </a:xfrm>
          <a:prstGeom prst="line">
            <a:avLst/>
          </a:prstGeom>
          <a:noFill/>
          <a:ln w="19050">
            <a:solidFill>
              <a:srgbClr val="B7192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190">
            <a:extLst>
              <a:ext uri="{FF2B5EF4-FFF2-40B4-BE49-F238E27FC236}">
                <a16:creationId xmlns:a16="http://schemas.microsoft.com/office/drawing/2014/main" id="{F7AB8E3C-7D37-48E1-9232-407AC0801EC1}"/>
              </a:ext>
            </a:extLst>
          </p:cNvPr>
          <p:cNvSpPr>
            <a:spLocks noGrp="1"/>
          </p:cNvSpPr>
          <p:nvPr/>
        </p:nvSpPr>
        <p:spPr>
          <a:xfrm>
            <a:off x="609600" y="603504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defPPr>
          </a:lstStyle>
          <a:p>
            <a:pPr algn="l">
              <a:defRPr sz="1425" b="1">
                <a:solidFill>
                  <a:srgbClr val="871321"/>
                </a:solidFill>
                <a:latin typeface="PingFang SC"/>
                <a:ea typeface="PingFang SC"/>
                <a:cs typeface="PingFang SC"/>
              </a:defRPr>
            </a:pPr>
            <a:r>
              <a:rPr sz="1100" b="1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最接近文献：</a:t>
            </a:r>
            <a:r>
              <a:rPr sz="1100" b="0">
                <a:solidFill>
                  <a:srgbClr val="871321"/>
                </a:solidFill>
                <a:latin typeface="PingFang SC"/>
                <a:ea typeface="PingFang SC"/>
                <a:cs typeface="PingFang SC"/>
              </a:rPr>
              <a:t>SpecAgent（arXiv:2610.21463，2026-10-15，不含车载词故未被全关键词式命中）：弱模型起草、强模型语义验证并修复被拒步骤，含端云部署；需核对申请日。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AE41645-1AAC-47BF-989D-69A361A9EA20}"/>
              </a:ext>
            </a:extLst>
          </p:cNvPr>
          <p:cNvGraphicFramePr/>
          <p:nvPr/>
        </p:nvGraphicFramePr>
        <p:xfrm>
          <a:off x="609600" y="1828800"/>
          <a:ext cx="10972800" cy="2100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国家/地区</a:t>
                      </a:r>
                    </a:p>
                  </a:txBody>
                  <a:tcPr anchor="ctr" marL="72000" marR="72000" marT="36000" marB="36000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检索网站</a:t>
                      </a:r>
                    </a:p>
                  </a:txBody>
                  <a:tcPr anchor="ctr" marL="72000" marR="72000" marT="36000" marB="36000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检索公式（关键词及组合方式）</a:t>
                      </a:r>
                    </a:p>
                  </a:txBody>
                  <a:tcPr anchor="ctr" marL="72000" marR="72000" marT="36000" marB="36000"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7132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文献数量</a:t>
                      </a:r>
                    </a:p>
                  </a:txBody>
                  <a:tcPr anchor="ctr" marL="72000" marR="72000" marT="36000" marB="36000">
                    <a:solidFill>
                      <a:srgbClr val="F6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0000">
                <a:tc rowSpan="2"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其它网站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arXiv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B616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全部字段（all）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B71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</a:t>
                      </a:r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(vehicle OR vehicular OR in-vehicle OR cockpit OR automotive OR infotainment)；</a:t>
                      </a:r>
                      <a:r>
                        <a:rPr sz="1100" b="1">
                          <a:solidFill>
                            <a:srgbClr val="B71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</a:t>
                      </a:r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("on-device model" OR "local model" OR "edge model" OR "small language model" OR "vehicle-side model")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B71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</a:t>
                      </a:r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("cloud model" OR "large language model" OR "server model")；</a:t>
                      </a:r>
                      <a:r>
                        <a:rPr sz="1100" b="1">
                          <a:solidFill>
                            <a:srgbClr val="B71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</a:t>
                      </a:r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(agent OR "tool call" OR "function call" OR "API call")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B71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</a:t>
                      </a:r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(verify OR verification OR validate OR verifier)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检索式：</a:t>
                      </a:r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 AND B AND C AND D AND E（块内 OR，块间 AND，须同时满足全部关键词）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00">
                <a:tc vMerge="1"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OpenAlex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B616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标题 + 摘要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关键词块 A–E 与检索式同 arXiv；限定 title_and_abstract 字段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anchor="ctr" marL="72000" marR="72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1406</Words>
  <Application>Microsoft Macintosh PowerPoint</Application>
  <DocSecurity>0</DocSecurity>
  <PresentationFormat>宽屏</PresentationFormat>
  <Paragraphs>407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PingFang SC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Zilin WANG</cp:lastModifiedBy>
  <cp:revision>1</cp:revision>
  <dcterms:created xsi:type="dcterms:W3CDTF">2026-10-08T07:37:21Z</dcterms:created>
  <dcterms:modified xsi:type="dcterms:W3CDTF">2026-10-08T07:41:11Z</dcterms:modified>
</cp:coreProperties>
</file>