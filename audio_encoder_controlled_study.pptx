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3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4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92440" y="2775204"/>
            <a:ext cx="50292" cy="301751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57031" y="2679992"/>
            <a:ext cx="50292" cy="492175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1624" y="2799739"/>
            <a:ext cx="50292" cy="252681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86216" y="2864093"/>
            <a:ext cx="50292" cy="123973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0808" y="2727763"/>
            <a:ext cx="50292" cy="396633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15400" y="2698539"/>
            <a:ext cx="50292" cy="45508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79992" y="2842400"/>
            <a:ext cx="50292" cy="167359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44584" y="2834552"/>
            <a:ext cx="50292" cy="183054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09176" y="2692714"/>
            <a:ext cx="50292" cy="466731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73767" y="2737112"/>
            <a:ext cx="50292" cy="377935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38359" y="2867509"/>
            <a:ext cx="50292" cy="11714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2952" y="2789509"/>
            <a:ext cx="50292" cy="27314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67544" y="2679211"/>
            <a:ext cx="50292" cy="493736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32136" y="2785634"/>
            <a:ext cx="50292" cy="280891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6728" y="2868508"/>
            <a:ext cx="50292" cy="115143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61319" y="2740730"/>
            <a:ext cx="50292" cy="370699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25912" y="2690783"/>
            <a:ext cx="50292" cy="470593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90504" y="2831432"/>
            <a:ext cx="50292" cy="189295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109960" y="2816352"/>
            <a:ext cx="73152" cy="201168"/>
          </a:xfrm>
          <a:prstGeom prst="rect">
            <a:avLst/>
          </a:prstGeom>
          <a:solidFill>
            <a:srgbClr val="17263D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228832" y="2816352"/>
            <a:ext cx="73152" cy="201168"/>
          </a:xfrm>
          <a:prstGeom prst="rect">
            <a:avLst/>
          </a:prstGeom>
          <a:solidFill>
            <a:srgbClr val="17263D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347704" y="2816352"/>
            <a:ext cx="73152" cy="201168"/>
          </a:xfrm>
          <a:prstGeom prst="rect">
            <a:avLst/>
          </a:prstGeom>
          <a:solidFill>
            <a:srgbClr val="17263D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66576" y="2816352"/>
            <a:ext cx="73152" cy="201168"/>
          </a:xfrm>
          <a:prstGeom prst="rect">
            <a:avLst/>
          </a:prstGeom>
          <a:solidFill>
            <a:srgbClr val="17263D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85448" y="2816352"/>
            <a:ext cx="73152" cy="201168"/>
          </a:xfrm>
          <a:prstGeom prst="rect">
            <a:avLst/>
          </a:prstGeom>
          <a:solidFill>
            <a:srgbClr val="17263D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704320" y="2816352"/>
            <a:ext cx="73152" cy="201168"/>
          </a:xfrm>
          <a:prstGeom prst="rect">
            <a:avLst/>
          </a:prstGeom>
          <a:solidFill>
            <a:srgbClr val="17263D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23192" y="2816352"/>
            <a:ext cx="73152" cy="201168"/>
          </a:xfrm>
          <a:prstGeom prst="rect">
            <a:avLst/>
          </a:prstGeom>
          <a:solidFill>
            <a:srgbClr val="17263D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942064" y="2816352"/>
            <a:ext cx="73152" cy="201168"/>
          </a:xfrm>
          <a:prstGeom prst="rect">
            <a:avLst/>
          </a:prstGeom>
          <a:solidFill>
            <a:srgbClr val="17263D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1965960"/>
            <a:ext cx="6949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2F4F7"/>
                </a:solidFill>
                <a:latin typeface="Aptos"/>
              </a:rPr>
              <a:t>音频如何接入 LLM?</a:t>
            </a:r>
            <a:endParaRPr sz="36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05840" y="2788920"/>
            <a:ext cx="8229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2F4F7"/>
                </a:solidFill>
                <a:latin typeface="Aptos"/>
              </a:rPr>
              <a:t>——encoder 设计空间的受控探究</a:t>
            </a:r>
            <a:endParaRPr sz="36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840" y="370332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  <a:latin typeface="Aptos"/>
              </a:rPr>
              <a:t>同底座 · 同数据 · 同预算,从预训练起点横比四种接入范式</a:t>
            </a:r>
            <a:endParaRPr sz="20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09800" y="5212080"/>
            <a:ext cx="777240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A94A6"/>
                </a:solidFill>
                <a:latin typeface="Aptos"/>
              </a:rPr>
              <a:t> </a:t>
            </a:r>
            <a:r>
              <a:rPr lang="zh-CN" sz="1600" b="0">
                <a:solidFill>
                  <a:srgbClr val="8A94A6"/>
                </a:solidFill>
                <a:latin typeface="Aptos"/>
              </a:rPr>
              <a:t>陈超</a:t>
            </a:r>
            <a:r>
              <a:rPr lang="en-US" altLang="zh-CN" sz="1600" b="0">
                <a:solidFill>
                  <a:srgbClr val="8A94A6"/>
                </a:solidFill>
                <a:latin typeface="Aptos"/>
              </a:rPr>
              <a:t> </a:t>
            </a:r>
            <a:r>
              <a:rPr sz="1600">
                <a:solidFill>
                  <a:srgbClr val="8A94A6"/>
                </a:solidFill>
                <a:latin typeface="Aptos"/>
                <a:sym typeface="+mn-ea"/>
              </a:rPr>
              <a:t>|</a:t>
            </a:r>
            <a:r>
              <a:rPr lang="en-US" altLang="zh-CN" sz="1600" b="0">
                <a:solidFill>
                  <a:srgbClr val="8A94A6"/>
                </a:solidFill>
                <a:latin typeface="Aptos"/>
              </a:rPr>
              <a:t> </a:t>
            </a:r>
            <a:r>
              <a:rPr sz="1600" b="0">
                <a:solidFill>
                  <a:srgbClr val="8A94A6"/>
                </a:solidFill>
                <a:latin typeface="Aptos"/>
              </a:rPr>
              <a:t>2026</a:t>
            </a:r>
            <a:r>
              <a:rPr lang="en-US" sz="1600" b="0">
                <a:solidFill>
                  <a:srgbClr val="8A94A6"/>
                </a:solidFill>
                <a:latin typeface="Aptos"/>
              </a:rPr>
              <a:t> /</a:t>
            </a:r>
            <a:r>
              <a:rPr sz="1600" b="0">
                <a:solidFill>
                  <a:srgbClr val="8A94A6"/>
                </a:solidFill>
                <a:latin typeface="Aptos"/>
              </a:rPr>
              <a:t> </a:t>
            </a:r>
            <a:r>
              <a:rPr lang="en-US" sz="1600" b="0">
                <a:solidFill>
                  <a:srgbClr val="8A94A6"/>
                </a:solidFill>
                <a:latin typeface="Aptos"/>
              </a:rPr>
              <a:t>0</a:t>
            </a:r>
            <a:r>
              <a:rPr sz="1600" b="0">
                <a:solidFill>
                  <a:srgbClr val="8A94A6"/>
                </a:solidFill>
                <a:latin typeface="Aptos"/>
              </a:rPr>
              <a:t>9</a:t>
            </a:r>
            <a:r>
              <a:rPr lang="en-US" sz="1600" b="0">
                <a:solidFill>
                  <a:srgbClr val="8A94A6"/>
                </a:solidFill>
                <a:latin typeface="Aptos"/>
              </a:rPr>
              <a:t> / 04</a:t>
            </a:r>
            <a:endParaRPr lang="zh-CN" altLang="en-US" sz="1600" b="0">
              <a:solidFill>
                <a:srgbClr val="8A94A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Aptos"/>
              </a:rPr>
              <a:t>问题:四条路线并存,但没有人能回答“哪种更好”</a:t>
            </a:r>
            <a:endParaRPr sz="32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Aptos"/>
              </a:rPr>
              <a:t>[1] Mel-LLM 2606.10231  [2] Alignment Is All You Need 2608.18132  [3] EMNLP 2025 离散 vs 连续 2508.17863  [4] Verdini, Interspeech 2025</a:t>
            </a:r>
            <a:endParaRPr sz="9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4A6"/>
                </a:solidFill>
                <a:latin typeface="Aptos"/>
              </a:rPr>
              <a:t>2 / 8</a:t>
            </a:r>
            <a:endParaRPr sz="10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70048" cy="205740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Aptos"/>
              </a:rPr>
              <a:t>冻结预训练 encoder + 投影</a:t>
            </a:r>
            <a:endParaRPr sz="17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7512" y="1783080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FB8AF"/>
                </a:solidFill>
                <a:latin typeface="Aptos"/>
              </a:rPr>
              <a:t>Qwen2-Audio、Qwen2.5-Omni</a:t>
            </a:r>
            <a:endParaRPr sz="1300" b="1">
              <a:solidFill>
                <a:srgbClr val="3FB8A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" y="228600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6"/>
                </a:solidFill>
                <a:latin typeface="Aptos"/>
              </a:rPr>
              <a:t>波形 → [Whisper ❄] → MLP → LLM</a:t>
            </a:r>
            <a:endParaRPr sz="12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92424" y="1051560"/>
            <a:ext cx="2670048" cy="205740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1234440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Aptos"/>
              </a:rPr>
              <a:t>从零联训 encoder</a:t>
            </a:r>
            <a:endParaRPr sz="17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57016" y="1783080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FB8AF"/>
                </a:solidFill>
                <a:latin typeface="Aptos"/>
              </a:rPr>
              <a:t>Qwen3-Omni(AuT)</a:t>
            </a:r>
            <a:endParaRPr sz="1300" b="1">
              <a:solidFill>
                <a:srgbClr val="3FB8A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57016" y="228600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6"/>
                </a:solidFill>
                <a:latin typeface="Aptos"/>
              </a:rPr>
              <a:t>波形 → [Conformer 🔥] → MLP → LLM</a:t>
            </a:r>
            <a:endParaRPr sz="12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81928" y="1051560"/>
            <a:ext cx="2670048" cy="205740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234440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Aptos"/>
              </a:rPr>
              <a:t>encoder-free 直投</a:t>
            </a:r>
            <a:endParaRPr sz="17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1783080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FB8AF"/>
                </a:solidFill>
                <a:latin typeface="Aptos"/>
              </a:rPr>
              <a:t>Gemma 4、Mel-LLM</a:t>
            </a:r>
            <a:endParaRPr sz="1300" b="1">
              <a:solidFill>
                <a:srgbClr val="3FB8A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46520" y="228600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6"/>
                </a:solidFill>
                <a:latin typeface="Aptos"/>
              </a:rPr>
              <a:t>波形/mel → Linear → LLM</a:t>
            </a:r>
            <a:endParaRPr sz="12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71432" y="1051560"/>
            <a:ext cx="2670048" cy="205740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1234440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Aptos"/>
              </a:rPr>
              <a:t>离散语音 token 进词表</a:t>
            </a:r>
            <a:endParaRPr sz="17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336024" y="1783080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FB8AF"/>
                </a:solidFill>
                <a:latin typeface="Aptos"/>
              </a:rPr>
              <a:t>Moshi、GLM-4-Voice</a:t>
            </a:r>
            <a:endParaRPr sz="1300" b="1">
              <a:solidFill>
                <a:srgbClr val="3FB8A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36024" y="228600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6"/>
                </a:solidFill>
                <a:latin typeface="Aptos"/>
              </a:rPr>
              <a:t>波形 → [Codec ❄] → token → LLM</a:t>
            </a:r>
            <a:endParaRPr sz="12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3429000"/>
            <a:ext cx="201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Aptos"/>
              </a:rPr>
              <a:t>•</a:t>
            </a:r>
            <a:endParaRPr sz="16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3429000"/>
            <a:ext cx="10744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Aptos"/>
              </a:rPr>
              <a:t>现有对比全是局部的:最多两臂、LLM 冻结、SFT 级或单一范式内部——不同工作间底座/数据/配方各异,互相不可比。</a:t>
            </a:r>
            <a:endParaRPr sz="16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4160520"/>
            <a:ext cx="201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Aptos"/>
              </a:rPr>
              <a:t>•</a:t>
            </a:r>
            <a:endParaRPr sz="16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" y="4160520"/>
            <a:ext cx="10744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Aptos"/>
              </a:rPr>
              <a:t>因此最基本的问题没有答案:预训练 encoder 的收益,多少来自架构归纳偏置,多少来自 68 万小时数据学到的知识?排序会不会随任务、数据量、模型规模翻转?</a:t>
            </a:r>
            <a:endParaRPr sz="16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5074920"/>
            <a:ext cx="201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Aptos"/>
              </a:rPr>
              <a:t>•</a:t>
            </a:r>
            <a:endParaRPr sz="16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5074920"/>
            <a:ext cx="10744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Aptos"/>
              </a:rPr>
              <a:t>我们的目标:不是找一个“最优架构”,而是给出这个设计空间的第一张条件化地图——什么条件下用什么接入形式。</a:t>
            </a:r>
            <a:endParaRPr sz="1600" b="0">
              <a:solidFill>
                <a:srgbClr val="F2F4F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Aptos"/>
              </a:rPr>
              <a:t>核心设计:把四种范式重构为一条“encoder 厚度梯度”</a:t>
            </a:r>
            <a:endParaRPr sz="32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Aptos"/>
              </a:rPr>
              <a:t>[1] Mel-LLM 2606.10231  [2] Alignment Is All You Need 2608.18132  [3] EMNLP 2025 离散 vs 连续 2508.17863</a:t>
            </a:r>
            <a:endParaRPr sz="9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4A6"/>
                </a:solidFill>
                <a:latin typeface="Aptos"/>
              </a:rPr>
              <a:t>3 / 8</a:t>
            </a:r>
            <a:endParaRPr sz="10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2790825" cy="658495"/>
          </a:xfrm>
          <a:prstGeom prst="roundRect">
            <a:avLst>
              <a:gd name="adj" fmla="val 8000"/>
            </a:avLst>
          </a:prstGeom>
          <a:solidFill>
            <a:srgbClr val="3FB8AF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7"/>
                </a:solidFill>
                <a:latin typeface="Aptos"/>
              </a:rPr>
              <a:t>A</a:t>
            </a:r>
            <a:endParaRPr sz="19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9990" y="1216025"/>
            <a:ext cx="2240915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F4F7"/>
                </a:solidFill>
                <a:latin typeface="Aptos"/>
              </a:rPr>
              <a:t>冻结 Whisper encoder(24 层,68 万小时)</a:t>
            </a:r>
            <a:endParaRPr sz="14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22395" y="12527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  <a:latin typeface="Aptos"/>
              </a:rPr>
              <a:t>架构 ✓  知识 ✓</a:t>
            </a:r>
            <a:endParaRPr sz="13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2788920" cy="658368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9514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7"/>
                </a:solidFill>
                <a:latin typeface="Aptos"/>
              </a:rPr>
              <a:t>B</a:t>
            </a:r>
            <a:endParaRPr sz="19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9990" y="2267585"/>
            <a:ext cx="249809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F4F7"/>
                </a:solidFill>
                <a:latin typeface="Aptos"/>
              </a:rPr>
              <a:t>从零联训 12 层 Conformer(40M,随机初始化)</a:t>
            </a:r>
            <a:endParaRPr sz="14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22395" y="230428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  <a:latin typeface="Aptos"/>
              </a:rPr>
              <a:t>架构 ✓  知识 ✗</a:t>
            </a:r>
            <a:endParaRPr sz="13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2811145" cy="658495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46450"/>
            <a:ext cx="554990" cy="383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7"/>
                </a:solidFill>
                <a:latin typeface="Aptos"/>
              </a:rPr>
              <a:t>C2</a:t>
            </a:r>
            <a:endParaRPr sz="19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0160" y="331927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F4F7"/>
                </a:solidFill>
                <a:latin typeface="Aptos"/>
              </a:rPr>
              <a:t>mel + 2 层卷积前端直投(Mel-LLM 式)</a:t>
            </a:r>
            <a:endParaRPr sz="14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22395" y="33431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  <a:latin typeface="Aptos"/>
              </a:rPr>
              <a:t>特征先验 ✓  encoder ✗</a:t>
            </a:r>
            <a:endParaRPr sz="13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2790825" cy="658495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98010"/>
            <a:ext cx="544195" cy="383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7"/>
                </a:solidFill>
                <a:latin typeface="Aptos"/>
              </a:rPr>
              <a:t>C1</a:t>
            </a:r>
            <a:endParaRPr sz="19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80160" y="4370831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F4F7"/>
                </a:solidFill>
                <a:latin typeface="Aptos"/>
              </a:rPr>
              <a:t>波形分帧直投(Gemma 4 式,单层 Linear)</a:t>
            </a:r>
            <a:endParaRPr sz="14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22395" y="440042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  <a:latin typeface="Aptos"/>
              </a:rPr>
              <a:t>一切归零</a:t>
            </a:r>
            <a:endParaRPr sz="13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76720" y="44988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Aptos"/>
              </a:rPr>
              <a:t>D</a:t>
            </a:r>
            <a:endParaRPr sz="18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25360" y="4453128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F4F7"/>
                </a:solidFill>
                <a:latin typeface="Aptos"/>
              </a:rPr>
              <a:t>离散语音 token(Mimi 语义码本)</a:t>
            </a:r>
            <a:endParaRPr sz="14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25360" y="481888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4A6"/>
                </a:solidFill>
                <a:latin typeface="Aptos"/>
              </a:rPr>
              <a:t>正交轴:离散化的代价</a:t>
            </a:r>
            <a:endParaRPr sz="11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20840" y="1143000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Aptos"/>
              </a:rPr>
              <a:t>A − B = 预训练知识的价值</a:t>
            </a:r>
            <a:endParaRPr sz="17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20840" y="155448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6"/>
                </a:solidFill>
                <a:latin typeface="Aptos"/>
              </a:rPr>
              <a:t>架构相同,只差 68 万小时数据</a:t>
            </a:r>
            <a:endParaRPr sz="12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20840" y="2194560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Aptos"/>
              </a:rPr>
              <a:t>B − C2 = Transformer encoder 层的价值</a:t>
            </a:r>
            <a:endParaRPr sz="17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20840" y="260604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6"/>
                </a:solidFill>
                <a:latin typeface="Aptos"/>
              </a:rPr>
              <a:t>前端相同,只差 12 层 Conformer</a:t>
            </a:r>
            <a:endParaRPr sz="12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20840" y="3246120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Aptos"/>
              </a:rPr>
              <a:t>C2 − C1 = 声学特征先验的价值</a:t>
            </a:r>
            <a:endParaRPr sz="17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20840" y="365760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6"/>
                </a:solidFill>
                <a:latin typeface="Aptos"/>
              </a:rPr>
              <a:t>只差 mel 提取与卷积下采样</a:t>
            </a:r>
            <a:endParaRPr sz="12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80" y="5623560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Aptos"/>
              </a:rPr>
              <a:t>每个组件都取自主流模型已验证的做法;新东西只有一样——让接入架构成为唯一自由变量。</a:t>
            </a:r>
            <a:endParaRPr sz="1700" b="1">
              <a:solidFill>
                <a:srgbClr val="F5A62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Aptos"/>
              </a:rPr>
              <a:t>受控 testbed:让“接入架构”成为唯一变量</a:t>
            </a:r>
            <a:endParaRPr sz="32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Aptos"/>
              </a:rPr>
              <a:t>[4] Verdini et al., Interspeech 2025</a:t>
            </a:r>
            <a:endParaRPr sz="9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4A6"/>
                </a:solidFill>
                <a:latin typeface="Aptos"/>
              </a:rPr>
              <a:t>4 / 8</a:t>
            </a:r>
            <a:endParaRPr sz="10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3520440" cy="50749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0" y="1051560"/>
            <a:ext cx="3429000" cy="50749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01000" y="1051560"/>
            <a:ext cx="3657600" cy="50749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FB8AF"/>
                </a:solidFill>
                <a:latin typeface="Aptos"/>
              </a:rPr>
              <a:t>公平性五条(不可妥协)</a:t>
            </a:r>
            <a:endParaRPr sz="1400" b="1">
              <a:solidFill>
                <a:srgbClr val="3FB8A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201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"/>
              </a:rPr>
              <a:t>•</a:t>
            </a:r>
            <a:endParaRPr sz="12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274320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4F7"/>
                </a:solidFill>
                <a:latin typeface="Aptos"/>
              </a:rPr>
              <a:t>统一 12.5</a:t>
            </a:r>
            <a:r>
              <a:rPr lang="en-US" sz="1200" b="0">
                <a:solidFill>
                  <a:srgbClr val="F2F4F7"/>
                </a:solidFill>
                <a:latin typeface="Aptos"/>
              </a:rPr>
              <a:t>/6.25</a:t>
            </a:r>
            <a:r>
              <a:rPr sz="1200" b="0">
                <a:solidFill>
                  <a:srgbClr val="F2F4F7"/>
                </a:solidFill>
                <a:latin typeface="Aptos"/>
              </a:rPr>
              <a:t> Hz token 率(帧率是最大混淆源 [4])</a:t>
            </a:r>
            <a:endParaRPr sz="12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01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"/>
              </a:rPr>
              <a:t>•</a:t>
            </a:r>
            <a:endParaRPr sz="12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23774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4F7"/>
                </a:solidFill>
                <a:latin typeface="Aptos"/>
              </a:rPr>
              <a:t>同数据、同 shard 顺序、同 dataloader 种子;主对比 2 seeds</a:t>
            </a:r>
            <a:endParaRPr sz="12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201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"/>
              </a:rPr>
              <a:t>•</a:t>
            </a:r>
            <a:endParaRPr sz="12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0120" y="30632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4F7"/>
                </a:solidFill>
                <a:latin typeface="Aptos"/>
              </a:rPr>
              <a:t>同一 LLM 起点与 tokenizer 扩展方式</a:t>
            </a:r>
            <a:endParaRPr sz="12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201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"/>
              </a:rPr>
              <a:t>•</a:t>
            </a:r>
            <a:endParaRPr sz="12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374903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4F7"/>
                </a:solidFill>
                <a:latin typeface="Aptos"/>
              </a:rPr>
              <a:t>训练预算按 LLM 侧 token 数对齐;分支参数量作为变量报告</a:t>
            </a:r>
            <a:endParaRPr sz="12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201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"/>
              </a:rPr>
              <a:t>•</a:t>
            </a:r>
            <a:endParaRPr sz="12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44348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4F7"/>
                </a:solidFill>
                <a:latin typeface="Aptos"/>
              </a:rPr>
              <a:t>序列打包重置 attention mask 与 position id</a:t>
            </a:r>
            <a:endParaRPr sz="12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6280" y="12344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FB8AF"/>
                </a:solidFill>
                <a:latin typeface="Aptos"/>
              </a:rPr>
              <a:t>底座阶梯(同族同 tokenizer)</a:t>
            </a:r>
            <a:endParaRPr sz="1400" b="1">
              <a:solidFill>
                <a:srgbClr val="3FB8A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0" y="1828800"/>
            <a:ext cx="2651760" cy="438912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911095"/>
            <a:ext cx="2468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MiniMind ~104M — 调试管线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81728" y="2487168"/>
            <a:ext cx="2450591" cy="438912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2569463"/>
            <a:ext cx="226771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SmolLM2-135M — 趋势线最小点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791456" y="3145536"/>
            <a:ext cx="2249424" cy="438912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3227832"/>
            <a:ext cx="206654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F4F7"/>
                </a:solidFill>
                <a:latin typeface="Aptos"/>
              </a:rPr>
              <a:t>SmolLM2-360M — 主网格</a:t>
            </a:r>
            <a:endParaRPr sz="11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901184" y="3803904"/>
            <a:ext cx="2048255" cy="438912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92624" y="3886200"/>
            <a:ext cx="186537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SmolLM2-1.7B — 趋势线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10785" y="4462145"/>
            <a:ext cx="1847215" cy="631825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2352" y="4471543"/>
            <a:ext cx="16642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SmolLM3-3B — 趋势线最大点,胜出变体完整复跑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26280" y="525780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4A6"/>
                </a:solidFill>
                <a:latin typeface="Aptos"/>
              </a:rPr>
              <a:t>备选底座 OLMo-2(开放程度最高)</a:t>
            </a:r>
            <a:endParaRPr sz="11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0" y="12344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FB8AF"/>
                </a:solidFill>
                <a:latin typeface="Aptos"/>
              </a:rPr>
              <a:t>数据与训练</a:t>
            </a:r>
            <a:endParaRPr sz="1400" b="1">
              <a:solidFill>
                <a:srgbClr val="3FB8AF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9600" y="1664208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数据 ~2500 h,全开源:LibriSpeech 960h · GigaSpeech-M 1000h · Common Voice 500h · WavCaps/AudioCaps/Clotho · MELD/CREMA-D/RAVDESS/VoxCeleb · VoiceAssistant-400K · smollm-corpus 文本回放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229600" y="3154680"/>
            <a:ext cx="3063240" cy="502920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2461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"/>
              </a:rPr>
              <a:t>T0</a:t>
            </a:r>
            <a:endParaRPr sz="12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23960" y="322783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F4F7"/>
                </a:solidFill>
                <a:latin typeface="Aptos"/>
              </a:rPr>
              <a:t>底座准备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9784080" y="3657600"/>
            <a:ext cx="0" cy="118872"/>
          </a:xfrm>
          <a:prstGeom prst="line">
            <a:avLst/>
          </a:prstGeom>
          <a:ln w="19050">
            <a:solidFill>
              <a:srgbClr val="3FB8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229600" y="3813048"/>
            <a:ext cx="3063240" cy="502920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3904487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"/>
              </a:rPr>
              <a:t>T1</a:t>
            </a:r>
            <a:endParaRPr sz="12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23960" y="388620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F4F7"/>
                </a:solidFill>
                <a:latin typeface="Aptos"/>
              </a:rPr>
              <a:t>冻结 LLM,分支对齐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9784080" y="4315968"/>
            <a:ext cx="0" cy="118872"/>
          </a:xfrm>
          <a:prstGeom prst="line">
            <a:avLst/>
          </a:prstGeom>
          <a:ln w="19050">
            <a:solidFill>
              <a:srgbClr val="3FB8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229600" y="4471416"/>
            <a:ext cx="3063240" cy="502920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456285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"/>
              </a:rPr>
              <a:t>T2</a:t>
            </a:r>
            <a:endParaRPr sz="12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823960" y="454456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F4F7"/>
                </a:solidFill>
                <a:latin typeface="Aptos"/>
              </a:rPr>
              <a:t>全解冻继续预训练 3B token(文本回放 45%,每 500 步探针)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9784080" y="4974336"/>
            <a:ext cx="0" cy="118872"/>
          </a:xfrm>
          <a:prstGeom prst="line">
            <a:avLst/>
          </a:prstGeom>
          <a:ln w="19050">
            <a:solidFill>
              <a:srgbClr val="3FB8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229600" y="5129784"/>
            <a:ext cx="3063240" cy="502920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522122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"/>
              </a:rPr>
              <a:t>T3</a:t>
            </a:r>
            <a:endParaRPr sz="12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823960" y="5202936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F4F7"/>
                </a:solidFill>
                <a:latin typeface="Aptos"/>
              </a:rPr>
              <a:t>轻量 SFT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229600" y="580644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A94A6"/>
                </a:solidFill>
                <a:latin typeface="Aptos"/>
              </a:rPr>
              <a:t>每臂配方逐字一致</a:t>
            </a:r>
            <a:endParaRPr sz="1100" b="1">
              <a:solidFill>
                <a:srgbClr val="8A94A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Aptos"/>
              </a:rPr>
              <a:t>实验矩阵:一张排序 + 四个方向的稳定性检验</a:t>
            </a:r>
            <a:endParaRPr sz="32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Aptos"/>
              </a:rPr>
              <a:t>[4] Verdini et al., Interspeech 2025  [6] Represented but Ignored 2608.19211</a:t>
            </a:r>
            <a:endParaRPr sz="9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4A6"/>
                </a:solidFill>
                <a:latin typeface="Aptos"/>
              </a:rPr>
              <a:t>5 / 8</a:t>
            </a:r>
            <a:endParaRPr sz="10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417320" cy="502920"/>
          </a:xfrm>
          <a:prstGeom prst="rect">
            <a:avLst/>
          </a:prstGeom>
          <a:solidFill>
            <a:srgbClr val="3FB8AF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170431"/>
            <a:ext cx="119786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Aptos"/>
              </a:rPr>
              <a:t>问题</a:t>
            </a:r>
            <a:endParaRPr sz="1400" b="1">
              <a:solidFill>
                <a:srgbClr val="0F1B2D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20240" y="1051560"/>
            <a:ext cx="4754880" cy="502920"/>
          </a:xfrm>
          <a:prstGeom prst="rect">
            <a:avLst/>
          </a:prstGeom>
          <a:solidFill>
            <a:srgbClr val="3FB8AF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9968" y="1170431"/>
            <a:ext cx="4535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Aptos"/>
              </a:rPr>
              <a:t>检验什么</a:t>
            </a:r>
            <a:endParaRPr sz="1400" b="1">
              <a:solidFill>
                <a:srgbClr val="0F1B2D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75120" y="1051560"/>
            <a:ext cx="4480560" cy="502920"/>
          </a:xfrm>
          <a:prstGeom prst="rect">
            <a:avLst/>
          </a:prstGeom>
          <a:solidFill>
            <a:srgbClr val="3FB8AF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170431"/>
            <a:ext cx="42611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Aptos"/>
              </a:rPr>
              <a:t>产出图表</a:t>
            </a:r>
            <a:endParaRPr sz="1400" b="1">
              <a:solidFill>
                <a:srgbClr val="0F1B2D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1554480"/>
            <a:ext cx="141732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12344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Q1 同条件下的真实排序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920240" y="1554480"/>
            <a:ext cx="475488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1645920"/>
            <a:ext cx="45720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5 臂 × 4 维 × 2 seeds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75120" y="1554480"/>
            <a:ext cx="448056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1645920"/>
            <a:ext cx="4297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主表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2176272"/>
            <a:ext cx="1417320" cy="603504"/>
          </a:xfrm>
          <a:prstGeom prst="rect">
            <a:avLst/>
          </a:prstGeom>
          <a:solidFill>
            <a:srgbClr val="343731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267712"/>
            <a:ext cx="12344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Q2 encoder 价值由什么构成</a:t>
            </a:r>
            <a:endParaRPr sz="11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20240" y="2176272"/>
            <a:ext cx="4754880" cy="603504"/>
          </a:xfrm>
          <a:prstGeom prst="rect">
            <a:avLst/>
          </a:prstGeom>
          <a:solidFill>
            <a:srgbClr val="343731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2267712"/>
            <a:ext cx="45720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相邻差值 A−B、B−C2、C2−C1</a:t>
            </a:r>
            <a:endParaRPr sz="11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75120" y="2176272"/>
            <a:ext cx="4480560" cy="603504"/>
          </a:xfrm>
          <a:prstGeom prst="rect">
            <a:avLst/>
          </a:prstGeom>
          <a:solidFill>
            <a:srgbClr val="343731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59" y="2267712"/>
            <a:ext cx="4297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图 2 梯度分解(核心贡献)</a:t>
            </a:r>
            <a:endParaRPr sz="11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2798064"/>
            <a:ext cx="141732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889504"/>
            <a:ext cx="12344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Q3 排序随任务维度翻转?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920240" y="2798064"/>
            <a:ext cx="475488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2889504"/>
            <a:ext cx="45720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主表按 ASR / 副语言 / 理解 / 文本保持 拆读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675120" y="2798064"/>
            <a:ext cx="448056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59" y="2889504"/>
            <a:ext cx="4297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主表分维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02920" y="3419856"/>
            <a:ext cx="141732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511296"/>
            <a:ext cx="12344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Q4 排序随数据量翻转?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920240" y="3419856"/>
            <a:ext cx="475488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3511296"/>
            <a:ext cx="45720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训练全程每 500 步探针,画追赶曲线与交叉点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675120" y="3419856"/>
            <a:ext cx="448056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59" y="3511296"/>
            <a:ext cx="4297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图 1 数据效率曲线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02920" y="4041648"/>
            <a:ext cx="141732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133087"/>
            <a:ext cx="12344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Q5 离散化代价在预训练条件下复现?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920240" y="4041648"/>
            <a:ext cx="475488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0" y="4133087"/>
            <a:ext cx="45720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D(单码本)vs D'(8 码本求和)vs A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675120" y="4041648"/>
            <a:ext cx="448056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59" y="4133087"/>
            <a:ext cx="4297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图 4 离散专项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02920" y="4663440"/>
            <a:ext cx="141732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754880"/>
            <a:ext cx="12344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Q6 排序随模型规模翻转?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920240" y="4663440"/>
            <a:ext cx="475488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11680" y="4754880"/>
            <a:ext cx="45720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关键变体 135M → 3B 复跑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675120" y="4663440"/>
            <a:ext cx="4480560" cy="603504"/>
          </a:xfrm>
          <a:prstGeom prst="rect">
            <a:avLst/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59" y="4754880"/>
            <a:ext cx="4297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图 3 跨范式规模趋势线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02920" y="5806440"/>
            <a:ext cx="2670048" cy="5029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5888736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ASR</a:t>
            </a:r>
            <a:endParaRPr sz="11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216152" y="5843016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2F4F7"/>
                </a:solidFill>
                <a:latin typeface="Aptos"/>
              </a:rPr>
              <a:t>LibriSpeech test-clean/other、FLEURS-en(WER)</a:t>
            </a:r>
            <a:endParaRPr sz="9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383280" y="5806440"/>
            <a:ext cx="2670048" cy="5029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93008" y="5888736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副语言</a:t>
            </a:r>
            <a:endParaRPr sz="11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096512" y="5843016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2F4F7"/>
                </a:solidFill>
                <a:latin typeface="Aptos"/>
              </a:rPr>
              <a:t>MELD、CREMA-D、VoxCeleb 性别 QA(Acc)</a:t>
            </a:r>
            <a:endParaRPr sz="9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983480" y="5806440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5A623"/>
                </a:solidFill>
                <a:latin typeface="Aptos"/>
              </a:rPr>
              <a:t>先例空白</a:t>
            </a:r>
            <a:endParaRPr sz="8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263640" y="5806440"/>
            <a:ext cx="2670048" cy="5029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73368" y="5888736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音频理解</a:t>
            </a:r>
            <a:endParaRPr sz="11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976872" y="5843016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2F4F7"/>
                </a:solidFill>
                <a:latin typeface="Aptos"/>
              </a:rPr>
              <a:t>MMAU、AIR-Bench、Clotho-AQA(Acc)</a:t>
            </a:r>
            <a:endParaRPr sz="9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144000" y="5806440"/>
            <a:ext cx="2670048" cy="5029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53728" y="5888736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文本保持</a:t>
            </a:r>
            <a:endParaRPr sz="11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857232" y="5843016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2F4F7"/>
                </a:solidFill>
                <a:latin typeface="Aptos"/>
              </a:rPr>
              <a:t>MMLU / HellaSwag / ARC 训后−训前 Δ</a:t>
            </a:r>
            <a:endParaRPr sz="9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744200" y="5806440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5A623"/>
                </a:solidFill>
                <a:latin typeface="Aptos"/>
              </a:rPr>
              <a:t>先例空白</a:t>
            </a:r>
            <a:endParaRPr sz="800" b="1">
              <a:solidFill>
                <a:srgbClr val="F5A62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Aptos"/>
              </a:rPr>
              <a:t>可能观察到什么:无论结果朝哪个方向都可发表</a:t>
            </a:r>
            <a:endParaRPr sz="32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Aptos"/>
              </a:rPr>
              <a:t>[5] Whisper-AuT 2604.10438  [6] Represented but Ignored 2608.19211</a:t>
            </a:r>
            <a:endParaRPr sz="9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4A6"/>
                </a:solidFill>
                <a:latin typeface="Aptos"/>
              </a:rPr>
              <a:t>6 / 8</a:t>
            </a:r>
            <a:endParaRPr sz="10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FB8AF"/>
                </a:solidFill>
                <a:latin typeface="Aptos"/>
              </a:rPr>
              <a:t>关于梯度成分</a:t>
            </a:r>
            <a:endParaRPr sz="1600" b="1">
              <a:solidFill>
                <a:srgbClr val="3FB8A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55063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Aptos"/>
              </a:rPr>
              <a:t>若 B ≈ A</a:t>
            </a:r>
            <a:endParaRPr sz="16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" y="2039112"/>
            <a:ext cx="4983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预训练知识可被联训以低成本替代——工业界正试图这么做(Whisper-AuT [5]),但尚无受控证据;反之则量化了“68 万小时知识”的不可替代性。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301752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16382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Aptos"/>
              </a:rPr>
              <a:t>若 C2 ≈ B</a:t>
            </a:r>
            <a:endParaRPr sz="16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" y="3547872"/>
            <a:ext cx="4983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Conformer 层可省,encoder-free 在 &lt;1B 规模就成立——比 Mel-LLM 的工业级观察更强。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4526279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672583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Aptos"/>
              </a:rPr>
              <a:t>C1 的追赶斜率</a:t>
            </a:r>
            <a:endParaRPr sz="16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" y="5056631"/>
            <a:ext cx="4983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波形直投预期小数据下垫底,“败多少、追多快”本身是核心结果。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9359" y="10058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FB8AF"/>
                </a:solidFill>
                <a:latin typeface="Aptos"/>
              </a:rPr>
              <a:t>关于机理与隐藏成本</a:t>
            </a:r>
            <a:endParaRPr sz="1600" b="1">
              <a:solidFill>
                <a:srgbClr val="3FB8AF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09359" y="15087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1" y="1655063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Aptos"/>
              </a:rPr>
              <a:t>LLM 底层自发变 encoder 的动态</a:t>
            </a:r>
            <a:endParaRPr sz="16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73951" y="2039112"/>
            <a:ext cx="4983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底部 N 层 CKA 何时升高、是否以牺牲文本功能为代价。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09359" y="301752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1" y="316382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Aptos"/>
              </a:rPr>
              <a:t>副语言“表示–使用落差”是否为冻结架构特有</a:t>
            </a:r>
            <a:endParaRPr sz="16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73951" y="3547872"/>
            <a:ext cx="4983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若 B/C1/C2 的端到端副语言准确率高于 A,即在受控条件下证实 [6] 的“利用不足”并给出方向。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09359" y="4526279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4672583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Aptos"/>
              </a:rPr>
              <a:t>离散变体扩词表对文本能力的损害</a:t>
            </a:r>
            <a:endParaRPr sz="16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73951" y="5056631"/>
            <a:ext cx="4983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先例全部不测的隐藏成本。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Aptos"/>
              </a:rPr>
              <a:t>进度与下一步</a:t>
            </a:r>
            <a:endParaRPr sz="32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9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4A6"/>
                </a:solidFill>
                <a:latin typeface="Aptos"/>
              </a:rPr>
              <a:t>7 / 8</a:t>
            </a:r>
            <a:endParaRPr sz="10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FB8AF"/>
                </a:solidFill>
                <a:latin typeface="Aptos"/>
              </a:rPr>
              <a:t>已完成产出</a:t>
            </a:r>
            <a:endParaRPr sz="1300" b="1">
              <a:solidFill>
                <a:srgbClr val="3FB8A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874519" cy="411480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26464"/>
            <a:ext cx="16642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2F4F7"/>
                </a:solidFill>
                <a:latin typeface="Aptos"/>
              </a:rPr>
              <a:t>方案文档 v4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0" y="1325880"/>
            <a:ext cx="1874519" cy="411480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1426464"/>
            <a:ext cx="16642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2F4F7"/>
                </a:solidFill>
                <a:latin typeface="Aptos"/>
              </a:rPr>
              <a:t>实验方案 v2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892040" y="1325880"/>
            <a:ext cx="1874519" cy="411480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3FB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1426464"/>
            <a:ext cx="16642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2F4F7"/>
                </a:solidFill>
                <a:latin typeface="Aptos"/>
              </a:rPr>
              <a:t>音频 encode 方式全景调研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1938528"/>
            <a:ext cx="7132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F4F7"/>
                </a:solidFill>
                <a:latin typeface="Aptos"/>
              </a:rPr>
              <a:t>8 周时间线</a:t>
            </a:r>
            <a:endParaRPr sz="14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A94A6"/>
                </a:solidFill>
                <a:latin typeface="Aptos"/>
              </a:rPr>
              <a:t>W1</a:t>
            </a:r>
            <a:endParaRPr sz="1000" b="1">
              <a:solidFill>
                <a:srgbClr val="8A94A6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2651760"/>
            <a:ext cx="658368" cy="164592"/>
          </a:xfrm>
          <a:prstGeom prst="rect">
            <a:avLst/>
          </a:prstGeom>
          <a:solidFill>
            <a:srgbClr val="1E2F48"/>
          </a:solidFill>
          <a:ln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233172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A94A6"/>
                </a:solidFill>
                <a:latin typeface="Aptos"/>
              </a:rPr>
              <a:t>W2</a:t>
            </a:r>
            <a:endParaRPr sz="1000" b="1">
              <a:solidFill>
                <a:srgbClr val="8A94A6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08760" y="2651760"/>
            <a:ext cx="658368" cy="164592"/>
          </a:xfrm>
          <a:prstGeom prst="rect">
            <a:avLst/>
          </a:prstGeom>
          <a:solidFill>
            <a:srgbClr val="1E2F48"/>
          </a:solidFill>
          <a:ln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233172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A94A6"/>
                </a:solidFill>
                <a:latin typeface="Aptos"/>
              </a:rPr>
              <a:t>W3</a:t>
            </a:r>
            <a:endParaRPr sz="1000" b="1">
              <a:solidFill>
                <a:srgbClr val="8A94A6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331720" y="2651760"/>
            <a:ext cx="658368" cy="164592"/>
          </a:xfrm>
          <a:prstGeom prst="rect">
            <a:avLst/>
          </a:prstGeom>
          <a:solidFill>
            <a:srgbClr val="1E2F48"/>
          </a:solidFill>
          <a:ln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233172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A94A6"/>
                </a:solidFill>
                <a:latin typeface="Aptos"/>
              </a:rPr>
              <a:t>W4</a:t>
            </a:r>
            <a:endParaRPr sz="1000" b="1">
              <a:solidFill>
                <a:srgbClr val="8A94A6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154680" y="2651760"/>
            <a:ext cx="658368" cy="164592"/>
          </a:xfrm>
          <a:prstGeom prst="rect">
            <a:avLst/>
          </a:prstGeom>
          <a:solidFill>
            <a:srgbClr val="1E2F48"/>
          </a:solidFill>
          <a:ln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233172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A94A6"/>
                </a:solidFill>
                <a:latin typeface="Aptos"/>
              </a:rPr>
              <a:t>W5</a:t>
            </a:r>
            <a:endParaRPr sz="1000" b="1">
              <a:solidFill>
                <a:srgbClr val="8A94A6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977639" y="2651760"/>
            <a:ext cx="658368" cy="164592"/>
          </a:xfrm>
          <a:prstGeom prst="rect">
            <a:avLst/>
          </a:prstGeom>
          <a:solidFill>
            <a:srgbClr val="1E2F48"/>
          </a:solidFill>
          <a:ln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33172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A94A6"/>
                </a:solidFill>
                <a:latin typeface="Aptos"/>
              </a:rPr>
              <a:t>W6</a:t>
            </a:r>
            <a:endParaRPr sz="1000" b="1">
              <a:solidFill>
                <a:srgbClr val="8A94A6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800600" y="2651760"/>
            <a:ext cx="658368" cy="164592"/>
          </a:xfrm>
          <a:prstGeom prst="rect">
            <a:avLst/>
          </a:prstGeom>
          <a:solidFill>
            <a:srgbClr val="1E2F48"/>
          </a:solidFill>
          <a:ln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233172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A94A6"/>
                </a:solidFill>
                <a:latin typeface="Aptos"/>
              </a:rPr>
              <a:t>W7</a:t>
            </a:r>
            <a:endParaRPr sz="1000" b="1">
              <a:solidFill>
                <a:srgbClr val="8A94A6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623560" y="2651760"/>
            <a:ext cx="658368" cy="164592"/>
          </a:xfrm>
          <a:prstGeom prst="rect">
            <a:avLst/>
          </a:prstGeom>
          <a:solidFill>
            <a:srgbClr val="1E2F48"/>
          </a:solidFill>
          <a:ln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A94A6"/>
                </a:solidFill>
                <a:latin typeface="Aptos"/>
              </a:rPr>
              <a:t>W8</a:t>
            </a:r>
            <a:endParaRPr sz="1000" b="1">
              <a:solidFill>
                <a:srgbClr val="8A94A6"/>
              </a:solidFill>
              <a:latin typeface="Apto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46520" y="2651760"/>
            <a:ext cx="658368" cy="164592"/>
          </a:xfrm>
          <a:prstGeom prst="rect">
            <a:avLst/>
          </a:prstGeom>
          <a:solidFill>
            <a:srgbClr val="1E2F48"/>
          </a:solidFill>
          <a:ln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3063240"/>
            <a:ext cx="1481328" cy="438912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15468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2F4F7"/>
                </a:solidFill>
                <a:latin typeface="Aptos"/>
              </a:rPr>
              <a:t>W1–2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60920" y="3044952"/>
            <a:ext cx="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5800" y="3538728"/>
            <a:ext cx="667512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2F4F7"/>
                </a:solidFill>
                <a:latin typeface="Aptos"/>
              </a:rPr>
              <a:t>数据下载与清点、统一预处理</a:t>
            </a:r>
            <a:endParaRPr sz="10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331720" y="3721608"/>
            <a:ext cx="1481328" cy="438912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95728" y="381304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2F4F7"/>
                </a:solidFill>
                <a:latin typeface="Aptos"/>
              </a:rPr>
              <a:t>W3–4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60920" y="3703320"/>
            <a:ext cx="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5800" y="4197096"/>
            <a:ext cx="6675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2F4F7"/>
                </a:solidFill>
                <a:latin typeface="Aptos"/>
              </a:rPr>
              <a:t>MiniMind 上依次接通 A → C1 → B → C2 → D,各跑 debug 训练</a:t>
            </a:r>
            <a:endParaRPr sz="10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977639" y="4379976"/>
            <a:ext cx="1481328" cy="438912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41648" y="447141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2F4F7"/>
                </a:solidFill>
                <a:latin typeface="Aptos"/>
              </a:rPr>
              <a:t>W5–6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60920" y="4361688"/>
            <a:ext cx="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5800" y="4855464"/>
            <a:ext cx="6675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2F4F7"/>
                </a:solidFill>
                <a:latin typeface="Aptos"/>
              </a:rPr>
              <a:t>SmolLM2-360M 上先跑 A 与 C1(梯度两端点)</a:t>
            </a:r>
            <a:endParaRPr sz="10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623560" y="5038344"/>
            <a:ext cx="1481328" cy="438912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87568" y="5129783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2F4F7"/>
                </a:solidFill>
                <a:latin typeface="Aptos"/>
              </a:rPr>
              <a:t>W7–8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360920" y="5020056"/>
            <a:ext cx="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85800" y="5513831"/>
            <a:ext cx="6675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2F4F7"/>
                </a:solidFill>
                <a:latin typeface="Aptos"/>
              </a:rPr>
              <a:t>B / C2 / D / D' + 第二 seed;评测与制图并行</a:t>
            </a:r>
            <a:endParaRPr sz="10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001000" y="960120"/>
            <a:ext cx="3611880" cy="521208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solidFill>
              <a:srgbClr val="1E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11887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FB8AF"/>
                </a:solidFill>
                <a:latin typeface="Aptos"/>
              </a:rPr>
              <a:t>主要风险与对策</a:t>
            </a:r>
            <a:endParaRPr sz="1400" b="1">
              <a:solidFill>
                <a:srgbClr val="3FB8AF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229600" y="18288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Aptos"/>
              </a:rPr>
              <a:t>C1 小数据惨败</a:t>
            </a:r>
            <a:endParaRPr sz="13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229600" y="2212848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数据效率曲线让“败多少、追多快”成为结果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8321040" y="2816352"/>
            <a:ext cx="2834640" cy="0"/>
          </a:xfrm>
          <a:prstGeom prst="line">
            <a:avLst/>
          </a:prstGeom>
          <a:ln w="12700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229600" y="30632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Aptos"/>
              </a:rPr>
              <a:t>B 联训不稳(loss spike)</a:t>
            </a:r>
            <a:endParaRPr sz="13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29600" y="3447288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encoder 单独 lr 分组 + 5% warmup + 先冻投影 500 步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8321040" y="4050791"/>
            <a:ext cx="2834640" cy="0"/>
          </a:xfrm>
          <a:prstGeom prst="line">
            <a:avLst/>
          </a:prstGeom>
          <a:ln w="12700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229600" y="42976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Aptos"/>
              </a:rPr>
              <a:t>GigaSpeech 审批慢</a:t>
            </a:r>
            <a:endParaRPr sz="13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229600" y="4681728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7"/>
                </a:solidFill>
                <a:latin typeface="Aptos"/>
              </a:rPr>
              <a:t>LibriSpeech + Common Voice 先起步</a:t>
            </a:r>
            <a:endParaRPr sz="1100" b="0">
              <a:solidFill>
                <a:srgbClr val="F2F4F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Aptos"/>
              </a:rPr>
              <a:t>贡献与延伸</a:t>
            </a:r>
            <a:endParaRPr sz="3200" b="1">
              <a:solidFill>
                <a:srgbClr val="F2F4F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9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4A6"/>
                </a:solidFill>
                <a:latin typeface="Aptos"/>
              </a:rPr>
              <a:t>8 / 8</a:t>
            </a:r>
            <a:endParaRPr sz="1000" b="0">
              <a:solidFill>
                <a:srgbClr val="8A94A6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Aptos"/>
              </a:rPr>
              <a:t>01</a:t>
            </a:r>
            <a:endParaRPr sz="22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25880" y="1033271"/>
            <a:ext cx="9875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  <a:latin typeface="Aptos"/>
              </a:rPr>
              <a:t>首个从预训练起点、同底座同数据同预算、跨全部范式的音频接入架构受控对比——产出是条件化设计地图,而非单一最优结论</a:t>
            </a:r>
            <a:endParaRPr sz="13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Aptos"/>
              </a:rPr>
              <a:t>02</a:t>
            </a:r>
            <a:endParaRPr sz="22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25880" y="1947672"/>
            <a:ext cx="9875520" cy="291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  <a:latin typeface="Aptos"/>
              </a:rPr>
              <a:t>把 encoder 的价值分解为知识 / 架构 / 特征先验三个可测成分——变体 B 与 C1 在全部文献中仍无</a:t>
            </a:r>
            <a:r>
              <a:rPr lang="en-US" sz="1300" b="0">
                <a:solidFill>
                  <a:srgbClr val="F2F4F7"/>
                </a:solidFill>
                <a:latin typeface="Aptos"/>
              </a:rPr>
              <a:t>controlled</a:t>
            </a:r>
            <a:r>
              <a:rPr sz="1300" b="0">
                <a:solidFill>
                  <a:srgbClr val="F2F4F7"/>
                </a:solidFill>
                <a:latin typeface="Aptos"/>
              </a:rPr>
              <a:t>数字</a:t>
            </a:r>
            <a:endParaRPr sz="13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Aptos"/>
              </a:rPr>
              <a:t>03</a:t>
            </a:r>
            <a:endParaRPr sz="22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5880" y="2862072"/>
            <a:ext cx="9875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  <a:latin typeface="Aptos"/>
              </a:rPr>
              <a:t>覆盖副语言与文本遗忘两个先例空白评测轴;机理分析从“训练完成后的静态分析”升级为跨架构 + 训练全程动态</a:t>
            </a:r>
            <a:endParaRPr sz="13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Aptos"/>
              </a:rPr>
              <a:t>04</a:t>
            </a:r>
            <a:endParaRPr sz="220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5880" y="3776472"/>
            <a:ext cx="9875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  <a:latin typeface="Aptos"/>
              </a:rPr>
              <a:t>testbed 本身即贡献:小模型 + 全开源,可复现</a:t>
            </a:r>
            <a:endParaRPr sz="1300" b="0">
              <a:solidFill>
                <a:srgbClr val="F2F4F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47548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FB8AF"/>
                </a:solidFill>
                <a:latin typeface="Aptos"/>
              </a:rPr>
              <a:t>延伸方向</a:t>
            </a:r>
            <a:endParaRPr sz="1400" b="1">
              <a:solidFill>
                <a:srgbClr val="3FB8A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5230368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330952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2F4F7"/>
                </a:solidFill>
                <a:latin typeface="Aptos"/>
              </a:rPr>
              <a:t>主网格 checkpoint 复用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2606040" y="5513832"/>
            <a:ext cx="210312" cy="0"/>
          </a:xfrm>
          <a:prstGeom prst="line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52928" y="5230368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4368" y="5330952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2F4F7"/>
                </a:solidFill>
                <a:latin typeface="Aptos"/>
              </a:rPr>
              <a:t>模态推理差距的架构归因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864608" y="5513832"/>
            <a:ext cx="210312" cy="0"/>
          </a:xfrm>
          <a:prstGeom prst="line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11496" y="5230368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2936" y="5330952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2F4F7"/>
                </a:solidFill>
                <a:latin typeface="Aptos"/>
              </a:rPr>
              <a:t>副语言利用不足的可塑性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7123176" y="5513832"/>
            <a:ext cx="210312" cy="0"/>
          </a:xfrm>
          <a:prstGeom prst="line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70064" y="5230368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4" y="5330952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2F4F7"/>
                </a:solidFill>
                <a:latin typeface="Aptos"/>
              </a:rPr>
              <a:t>帧率轴扫描(6.25 / 12.5 / 25 Hz)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9381744" y="5513832"/>
            <a:ext cx="210312" cy="0"/>
          </a:xfrm>
          <a:prstGeom prst="line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28632" y="5230368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1E2F48"/>
          </a:solidFill>
          <a:ln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0072" y="5330952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2F4F7"/>
                </a:solidFill>
                <a:latin typeface="Aptos"/>
              </a:rPr>
              <a:t>输出侧对比 &amp; 视觉接入复制</a:t>
            </a:r>
            <a:endParaRPr sz="1000" b="1">
              <a:solidFill>
                <a:srgbClr val="F2F4F7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3435</Words>
  <Application>WPS 演示</Application>
  <PresentationFormat>On-screen Show (4:3)</PresentationFormat>
  <Paragraphs>358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Arial</vt:lpstr>
      <vt:lpstr>Aptos</vt:lpstr>
      <vt:lpstr>Segoe UI</vt:lpstr>
      <vt:lpstr>Calibri</vt:lpstr>
      <vt:lpstr>微软雅黑</vt:lpstr>
      <vt:lpstr>Arial Unicode MS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.....</cp:lastModifiedBy>
  <cp:revision>3</cp:revision>
  <dcterms:created xsi:type="dcterms:W3CDTF">2013-01-27T09:14:00Z</dcterms:created>
  <dcterms:modified xsi:type="dcterms:W3CDTF">2026-09-04T04:01:41Z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6AE4664D70FF428B9632635FE6A807D7_12</vt:lpwstr>
  </property>
</Properties>
</file>